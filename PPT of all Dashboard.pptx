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4" r:id="rId9"/>
    <p:sldId id="262"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4" d="100"/>
          <a:sy n="144"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83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63500" y="2069084"/>
            <a:ext cx="9004300" cy="277495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457200" y="365760"/>
            <a:ext cx="8229600" cy="109728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High Cloud Airlines</a:t>
            </a:r>
            <a:endParaRPr lang="en-US" sz="5400" dirty="0"/>
          </a:p>
        </p:txBody>
      </p:sp>
      <p:sp>
        <p:nvSpPr>
          <p:cNvPr id="5" name="Text 3"/>
          <p:cNvSpPr/>
          <p:nvPr/>
        </p:nvSpPr>
        <p:spPr>
          <a:xfrm>
            <a:off x="457200" y="1371600"/>
            <a:ext cx="8229600" cy="548640"/>
          </a:xfrm>
          <a:prstGeom prst="rect">
            <a:avLst/>
          </a:prstGeom>
          <a:noFill/>
          <a:ln/>
        </p:spPr>
        <p:txBody>
          <a:bodyPr wrap="square" rtlCol="0" anchor="ctr"/>
          <a:lstStyle/>
          <a:p>
            <a:pPr marL="0" indent="0" algn="ctr">
              <a:buNone/>
            </a:pPr>
            <a:r>
              <a:rPr lang="en-US" sz="2800" dirty="0">
                <a:solidFill>
                  <a:srgbClr val="7ECFCF"/>
                </a:solidFill>
                <a:latin typeface="Calibri" pitchFamily="34" charset="0"/>
                <a:ea typeface="Calibri" pitchFamily="34" charset="-122"/>
                <a:cs typeface="Calibri" pitchFamily="34" charset="-120"/>
              </a:rPr>
              <a:t>Data Analytics Project</a:t>
            </a:r>
            <a:endParaRPr lang="en-US" sz="2800" dirty="0"/>
          </a:p>
        </p:txBody>
      </p:sp>
      <p:sp>
        <p:nvSpPr>
          <p:cNvPr id="8" name="Text 5"/>
          <p:cNvSpPr/>
          <p:nvPr/>
        </p:nvSpPr>
        <p:spPr>
          <a:xfrm>
            <a:off x="457200" y="2050288"/>
            <a:ext cx="8229600" cy="2247392"/>
          </a:xfrm>
          <a:prstGeom prst="rect">
            <a:avLst/>
          </a:prstGeom>
          <a:noFill/>
          <a:ln/>
        </p:spPr>
        <p:txBody>
          <a:bodyPr wrap="square" rtlCol="0" anchor="ctr"/>
          <a:lstStyle/>
          <a:p>
            <a:pPr marL="0" indent="0" algn="ctr">
              <a:buNone/>
            </a:pPr>
            <a:r>
              <a:rPr lang="en-US" sz="1600" dirty="0">
                <a:solidFill>
                  <a:srgbClr val="AADCDC"/>
                </a:solidFill>
                <a:latin typeface="Calibri" pitchFamily="34" charset="0"/>
                <a:ea typeface="Calibri" pitchFamily="34" charset="-122"/>
                <a:cs typeface="Calibri" pitchFamily="34" charset="-120"/>
              </a:rPr>
              <a:t>Presented by: </a:t>
            </a:r>
          </a:p>
          <a:p>
            <a:pPr algn="ctr"/>
            <a:r>
              <a:rPr lang="en-GB" sz="1600" dirty="0">
                <a:solidFill>
                  <a:srgbClr val="66FFFF"/>
                </a:solidFill>
              </a:rPr>
              <a:t>Avala Sai Kiran  </a:t>
            </a:r>
          </a:p>
          <a:p>
            <a:pPr algn="ctr"/>
            <a:r>
              <a:rPr lang="en-GB" sz="1600" dirty="0">
                <a:solidFill>
                  <a:srgbClr val="66FFFF"/>
                </a:solidFill>
              </a:rPr>
              <a:t> </a:t>
            </a:r>
            <a:r>
              <a:rPr lang="en-IN" sz="1600" dirty="0" err="1">
                <a:solidFill>
                  <a:srgbClr val="66FFFF"/>
                </a:solidFill>
              </a:rPr>
              <a:t>Pannerselvam</a:t>
            </a:r>
            <a:r>
              <a:rPr lang="en-IN" sz="1600" dirty="0">
                <a:solidFill>
                  <a:srgbClr val="66FFFF"/>
                </a:solidFill>
              </a:rPr>
              <a:t> </a:t>
            </a:r>
            <a:r>
              <a:rPr lang="en-GB" sz="1600" dirty="0">
                <a:solidFill>
                  <a:srgbClr val="66FFFF"/>
                </a:solidFill>
              </a:rPr>
              <a:t>Rahul Kumar </a:t>
            </a:r>
          </a:p>
          <a:p>
            <a:pPr algn="ctr"/>
            <a:r>
              <a:rPr lang="en-GB" sz="1600" dirty="0">
                <a:solidFill>
                  <a:srgbClr val="66FFFF"/>
                </a:solidFill>
              </a:rPr>
              <a:t>Neha </a:t>
            </a:r>
            <a:r>
              <a:rPr lang="en-GB" sz="1600" dirty="0" err="1">
                <a:solidFill>
                  <a:srgbClr val="66FFFF"/>
                </a:solidFill>
              </a:rPr>
              <a:t>Devarashetty</a:t>
            </a:r>
            <a:endParaRPr lang="en-GB" sz="1600" dirty="0">
              <a:solidFill>
                <a:srgbClr val="66FFFF"/>
              </a:solidFill>
            </a:endParaRPr>
          </a:p>
          <a:p>
            <a:pPr algn="ctr"/>
            <a:r>
              <a:rPr lang="en-IN" sz="1600" dirty="0" err="1">
                <a:solidFill>
                  <a:srgbClr val="66FFFF"/>
                </a:solidFill>
              </a:rPr>
              <a:t>Shaik.Ameer</a:t>
            </a:r>
            <a:r>
              <a:rPr lang="en-IN" sz="1600" dirty="0">
                <a:solidFill>
                  <a:srgbClr val="66FFFF"/>
                </a:solidFill>
              </a:rPr>
              <a:t> shareef  </a:t>
            </a:r>
          </a:p>
          <a:p>
            <a:pPr algn="ctr"/>
            <a:r>
              <a:rPr lang="en-IN" sz="1600" dirty="0" err="1">
                <a:solidFill>
                  <a:srgbClr val="66FFFF"/>
                </a:solidFill>
              </a:rPr>
              <a:t>D.Mohan</a:t>
            </a:r>
            <a:r>
              <a:rPr lang="en-IN" sz="1600" dirty="0">
                <a:solidFill>
                  <a:srgbClr val="66FFFF"/>
                </a:solidFill>
              </a:rPr>
              <a:t> Kali Prasad  </a:t>
            </a:r>
          </a:p>
          <a:p>
            <a:pPr algn="ctr"/>
            <a:r>
              <a:rPr lang="en-IN" sz="1600" dirty="0" err="1">
                <a:solidFill>
                  <a:srgbClr val="66FFFF"/>
                </a:solidFill>
              </a:rPr>
              <a:t>Pepakayala</a:t>
            </a:r>
            <a:r>
              <a:rPr lang="en-IN" sz="1600" dirty="0">
                <a:solidFill>
                  <a:srgbClr val="66FFFF"/>
                </a:solidFill>
              </a:rPr>
              <a:t> Santhosh</a:t>
            </a:r>
            <a:endParaRPr lang="en-US" sz="1600" dirty="0">
              <a:solidFill>
                <a:srgbClr val="66FFFF"/>
              </a:solidFill>
            </a:endParaRPr>
          </a:p>
        </p:txBody>
      </p:sp>
      <p:sp>
        <p:nvSpPr>
          <p:cNvPr id="9" name="Text 6"/>
          <p:cNvSpPr/>
          <p:nvPr/>
        </p:nvSpPr>
        <p:spPr>
          <a:xfrm>
            <a:off x="457200" y="4297680"/>
            <a:ext cx="8229600" cy="320040"/>
          </a:xfrm>
          <a:prstGeom prst="rect">
            <a:avLst/>
          </a:prstGeom>
          <a:noFill/>
          <a:ln/>
        </p:spPr>
        <p:txBody>
          <a:bodyPr wrap="square" rtlCol="0" anchor="ctr"/>
          <a:lstStyle/>
          <a:p>
            <a:pPr marL="0" indent="0" algn="ctr">
              <a:buNone/>
            </a:pPr>
            <a:r>
              <a:rPr lang="en-US" sz="1400" i="1" dirty="0">
                <a:solidFill>
                  <a:srgbClr val="7ECFCF"/>
                </a:solidFill>
                <a:latin typeface="Calibri" pitchFamily="34" charset="0"/>
                <a:ea typeface="Calibri" pitchFamily="34" charset="-122"/>
                <a:cs typeface="Calibri" pitchFamily="34" charset="-120"/>
              </a:rPr>
              <a:t>Data Analytics Course — Project 2</a:t>
            </a:r>
            <a:endParaRPr lang="en-US" sz="1400" dirty="0"/>
          </a:p>
        </p:txBody>
      </p:sp>
      <p:sp>
        <p:nvSpPr>
          <p:cNvPr id="10" name="Shape 7"/>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High Cloud Airlines — Project Overview</a:t>
            </a:r>
            <a:endParaRPr lang="en-US" sz="3200" dirty="0"/>
          </a:p>
        </p:txBody>
      </p:sp>
      <p:sp>
        <p:nvSpPr>
          <p:cNvPr id="5" name="Text 3"/>
          <p:cNvSpPr/>
          <p:nvPr/>
        </p:nvSpPr>
        <p:spPr>
          <a:xfrm>
            <a:off x="457200" y="960120"/>
            <a:ext cx="8229600" cy="731520"/>
          </a:xfrm>
          <a:prstGeom prst="rect">
            <a:avLst/>
          </a:prstGeom>
          <a:noFill/>
          <a:ln/>
        </p:spPr>
        <p:txBody>
          <a:bodyPr wrap="square" rtlCol="0" anchor="ctr"/>
          <a:lstStyle/>
          <a:p>
            <a:pPr marL="0" indent="0" algn="ctr">
              <a:buNone/>
            </a:pPr>
            <a:r>
              <a:rPr lang="en-US" sz="1400" dirty="0">
                <a:solidFill>
                  <a:srgbClr val="D0EFEF"/>
                </a:solidFill>
                <a:latin typeface="Calibri" pitchFamily="34" charset="0"/>
                <a:ea typeface="Calibri" pitchFamily="34" charset="-122"/>
                <a:cs typeface="Calibri" pitchFamily="34" charset="-120"/>
              </a:rPr>
              <a:t>This project involved processing, analyzing, and visualizing data from High Cloud Airlines to uncover operational insights and performance trends across flights, passengers, routes, and load factors.</a:t>
            </a:r>
            <a:endParaRPr lang="en-US" sz="1400" dirty="0"/>
          </a:p>
        </p:txBody>
      </p:sp>
      <p:sp>
        <p:nvSpPr>
          <p:cNvPr id="6" name="Shape 4"/>
          <p:cNvSpPr/>
          <p:nvPr/>
        </p:nvSpPr>
        <p:spPr>
          <a:xfrm>
            <a:off x="137160" y="1828800"/>
            <a:ext cx="1645920" cy="82296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7" name="Text 5"/>
          <p:cNvSpPr/>
          <p:nvPr/>
        </p:nvSpPr>
        <p:spPr>
          <a:xfrm>
            <a:off x="137160" y="1901952"/>
            <a:ext cx="1645920" cy="457200"/>
          </a:xfrm>
          <a:prstGeom prst="rect">
            <a:avLst/>
          </a:prstGeom>
          <a:noFill/>
          <a:ln/>
        </p:spPr>
        <p:txBody>
          <a:bodyPr wrap="square" rtlCol="0" anchor="ctr"/>
          <a:lstStyle/>
          <a:p>
            <a:pPr marL="0" indent="0" algn="ctr">
              <a:buNone/>
            </a:pPr>
            <a:r>
              <a:rPr lang="en-US" sz="2200" b="1" dirty="0">
                <a:solidFill>
                  <a:srgbClr val="1AC8C8"/>
                </a:solidFill>
                <a:latin typeface="Calibri" pitchFamily="34" charset="0"/>
                <a:ea typeface="Calibri" pitchFamily="34" charset="-122"/>
                <a:cs typeface="Calibri" pitchFamily="34" charset="-120"/>
              </a:rPr>
              <a:t>110.85K</a:t>
            </a:r>
            <a:endParaRPr lang="en-US" sz="2200" dirty="0"/>
          </a:p>
        </p:txBody>
      </p:sp>
      <p:sp>
        <p:nvSpPr>
          <p:cNvPr id="8" name="Text 6"/>
          <p:cNvSpPr/>
          <p:nvPr/>
        </p:nvSpPr>
        <p:spPr>
          <a:xfrm>
            <a:off x="137160" y="2331720"/>
            <a:ext cx="1645920" cy="274320"/>
          </a:xfrm>
          <a:prstGeom prst="rect">
            <a:avLst/>
          </a:prstGeom>
          <a:noFill/>
          <a:ln/>
        </p:spPr>
        <p:txBody>
          <a:bodyPr wrap="square" rtlCol="0" anchor="ctr"/>
          <a:lstStyle/>
          <a:p>
            <a:pPr marL="0" indent="0" algn="ctr">
              <a:buNone/>
            </a:pPr>
            <a:r>
              <a:rPr lang="en-US" sz="1100" dirty="0">
                <a:solidFill>
                  <a:srgbClr val="AADCDC"/>
                </a:solidFill>
                <a:latin typeface="Calibri" pitchFamily="34" charset="0"/>
                <a:ea typeface="Calibri" pitchFamily="34" charset="-122"/>
                <a:cs typeface="Calibri" pitchFamily="34" charset="-120"/>
              </a:rPr>
              <a:t>Total Flights</a:t>
            </a:r>
            <a:endParaRPr lang="en-US" sz="1100" dirty="0"/>
          </a:p>
        </p:txBody>
      </p:sp>
      <p:sp>
        <p:nvSpPr>
          <p:cNvPr id="9" name="Shape 7"/>
          <p:cNvSpPr/>
          <p:nvPr/>
        </p:nvSpPr>
        <p:spPr>
          <a:xfrm>
            <a:off x="1874520" y="1828800"/>
            <a:ext cx="1645920" cy="82296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0" name="Text 8"/>
          <p:cNvSpPr/>
          <p:nvPr/>
        </p:nvSpPr>
        <p:spPr>
          <a:xfrm>
            <a:off x="1874520" y="1901952"/>
            <a:ext cx="1645920" cy="457200"/>
          </a:xfrm>
          <a:prstGeom prst="rect">
            <a:avLst/>
          </a:prstGeom>
          <a:noFill/>
          <a:ln/>
        </p:spPr>
        <p:txBody>
          <a:bodyPr wrap="square" rtlCol="0" anchor="ctr"/>
          <a:lstStyle/>
          <a:p>
            <a:pPr marL="0" indent="0" algn="ctr">
              <a:buNone/>
            </a:pPr>
            <a:r>
              <a:rPr lang="en-US" sz="2200" b="1" dirty="0">
                <a:solidFill>
                  <a:srgbClr val="1AC8C8"/>
                </a:solidFill>
                <a:latin typeface="Calibri" pitchFamily="34" charset="0"/>
                <a:ea typeface="Calibri" pitchFamily="34" charset="-122"/>
                <a:cs typeface="Calibri" pitchFamily="34" charset="-120"/>
              </a:rPr>
              <a:t>243.53M</a:t>
            </a:r>
            <a:endParaRPr lang="en-US" sz="2200" dirty="0"/>
          </a:p>
        </p:txBody>
      </p:sp>
      <p:sp>
        <p:nvSpPr>
          <p:cNvPr id="11" name="Text 9"/>
          <p:cNvSpPr/>
          <p:nvPr/>
        </p:nvSpPr>
        <p:spPr>
          <a:xfrm>
            <a:off x="1874520" y="2331720"/>
            <a:ext cx="1645920" cy="274320"/>
          </a:xfrm>
          <a:prstGeom prst="rect">
            <a:avLst/>
          </a:prstGeom>
          <a:noFill/>
          <a:ln/>
        </p:spPr>
        <p:txBody>
          <a:bodyPr wrap="square" rtlCol="0" anchor="ctr"/>
          <a:lstStyle/>
          <a:p>
            <a:pPr marL="0" indent="0" algn="ctr">
              <a:buNone/>
            </a:pPr>
            <a:r>
              <a:rPr lang="en-US" sz="1100" dirty="0">
                <a:solidFill>
                  <a:srgbClr val="AADCDC"/>
                </a:solidFill>
                <a:latin typeface="Calibri" pitchFamily="34" charset="0"/>
                <a:ea typeface="Calibri" pitchFamily="34" charset="-122"/>
                <a:cs typeface="Calibri" pitchFamily="34" charset="-120"/>
              </a:rPr>
              <a:t>Total Seats</a:t>
            </a:r>
            <a:endParaRPr lang="en-US" sz="1100" dirty="0"/>
          </a:p>
        </p:txBody>
      </p:sp>
      <p:sp>
        <p:nvSpPr>
          <p:cNvPr id="12" name="Shape 10"/>
          <p:cNvSpPr/>
          <p:nvPr/>
        </p:nvSpPr>
        <p:spPr>
          <a:xfrm>
            <a:off x="3611880" y="1828800"/>
            <a:ext cx="1645920" cy="82296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3" name="Text 11"/>
          <p:cNvSpPr/>
          <p:nvPr/>
        </p:nvSpPr>
        <p:spPr>
          <a:xfrm>
            <a:off x="3611880" y="1901952"/>
            <a:ext cx="1645920" cy="457200"/>
          </a:xfrm>
          <a:prstGeom prst="rect">
            <a:avLst/>
          </a:prstGeom>
          <a:noFill/>
          <a:ln/>
        </p:spPr>
        <p:txBody>
          <a:bodyPr wrap="square" rtlCol="0" anchor="ctr"/>
          <a:lstStyle/>
          <a:p>
            <a:pPr marL="0" indent="0" algn="ctr">
              <a:buNone/>
            </a:pPr>
            <a:r>
              <a:rPr lang="en-US" sz="2200" b="1" dirty="0">
                <a:solidFill>
                  <a:srgbClr val="1AC8C8"/>
                </a:solidFill>
                <a:latin typeface="Calibri" pitchFamily="34" charset="0"/>
                <a:ea typeface="Calibri" pitchFamily="34" charset="-122"/>
                <a:cs typeface="Calibri" pitchFamily="34" charset="-120"/>
              </a:rPr>
              <a:t>187.02M</a:t>
            </a:r>
            <a:endParaRPr lang="en-US" sz="2200" dirty="0"/>
          </a:p>
        </p:txBody>
      </p:sp>
      <p:sp>
        <p:nvSpPr>
          <p:cNvPr id="14" name="Text 12"/>
          <p:cNvSpPr/>
          <p:nvPr/>
        </p:nvSpPr>
        <p:spPr>
          <a:xfrm>
            <a:off x="3611880" y="2331720"/>
            <a:ext cx="1645920" cy="274320"/>
          </a:xfrm>
          <a:prstGeom prst="rect">
            <a:avLst/>
          </a:prstGeom>
          <a:noFill/>
          <a:ln/>
        </p:spPr>
        <p:txBody>
          <a:bodyPr wrap="square" rtlCol="0" anchor="ctr"/>
          <a:lstStyle/>
          <a:p>
            <a:pPr marL="0" indent="0" algn="ctr">
              <a:buNone/>
            </a:pPr>
            <a:r>
              <a:rPr lang="en-US" sz="1100" dirty="0">
                <a:solidFill>
                  <a:srgbClr val="AADCDC"/>
                </a:solidFill>
                <a:latin typeface="Calibri" pitchFamily="34" charset="0"/>
                <a:ea typeface="Calibri" pitchFamily="34" charset="-122"/>
                <a:cs typeface="Calibri" pitchFamily="34" charset="-120"/>
              </a:rPr>
              <a:t>Total Passengers</a:t>
            </a:r>
            <a:endParaRPr lang="en-US" sz="1100" dirty="0"/>
          </a:p>
        </p:txBody>
      </p:sp>
      <p:sp>
        <p:nvSpPr>
          <p:cNvPr id="15" name="Shape 13"/>
          <p:cNvSpPr/>
          <p:nvPr/>
        </p:nvSpPr>
        <p:spPr>
          <a:xfrm>
            <a:off x="5349240" y="1828800"/>
            <a:ext cx="1645920" cy="82296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6" name="Text 14"/>
          <p:cNvSpPr/>
          <p:nvPr/>
        </p:nvSpPr>
        <p:spPr>
          <a:xfrm>
            <a:off x="5349240" y="1901952"/>
            <a:ext cx="1645920" cy="457200"/>
          </a:xfrm>
          <a:prstGeom prst="rect">
            <a:avLst/>
          </a:prstGeom>
          <a:noFill/>
          <a:ln/>
        </p:spPr>
        <p:txBody>
          <a:bodyPr wrap="square" rtlCol="0" anchor="ctr"/>
          <a:lstStyle/>
          <a:p>
            <a:pPr marL="0" indent="0" algn="ctr">
              <a:buNone/>
            </a:pPr>
            <a:r>
              <a:rPr lang="en-US" sz="2200" b="1" dirty="0">
                <a:solidFill>
                  <a:srgbClr val="1AC8C8"/>
                </a:solidFill>
                <a:latin typeface="Calibri" pitchFamily="34" charset="0"/>
                <a:ea typeface="Calibri" pitchFamily="34" charset="-122"/>
                <a:cs typeface="Calibri" pitchFamily="34" charset="-120"/>
              </a:rPr>
              <a:t>76.80%</a:t>
            </a:r>
            <a:endParaRPr lang="en-US" sz="2200" dirty="0"/>
          </a:p>
        </p:txBody>
      </p:sp>
      <p:sp>
        <p:nvSpPr>
          <p:cNvPr id="17" name="Text 15"/>
          <p:cNvSpPr/>
          <p:nvPr/>
        </p:nvSpPr>
        <p:spPr>
          <a:xfrm>
            <a:off x="5349240" y="2331720"/>
            <a:ext cx="1645920" cy="274320"/>
          </a:xfrm>
          <a:prstGeom prst="rect">
            <a:avLst/>
          </a:prstGeom>
          <a:noFill/>
          <a:ln/>
        </p:spPr>
        <p:txBody>
          <a:bodyPr wrap="square" rtlCol="0" anchor="ctr"/>
          <a:lstStyle/>
          <a:p>
            <a:pPr marL="0" indent="0" algn="ctr">
              <a:buNone/>
            </a:pPr>
            <a:r>
              <a:rPr lang="en-US" sz="1100" dirty="0">
                <a:solidFill>
                  <a:srgbClr val="AADCDC"/>
                </a:solidFill>
                <a:latin typeface="Calibri" pitchFamily="34" charset="0"/>
                <a:ea typeface="Calibri" pitchFamily="34" charset="-122"/>
                <a:cs typeface="Calibri" pitchFamily="34" charset="-120"/>
              </a:rPr>
              <a:t>Load Factor</a:t>
            </a:r>
            <a:endParaRPr lang="en-US" sz="1100" dirty="0"/>
          </a:p>
        </p:txBody>
      </p:sp>
      <p:sp>
        <p:nvSpPr>
          <p:cNvPr id="18" name="Shape 16"/>
          <p:cNvSpPr/>
          <p:nvPr/>
        </p:nvSpPr>
        <p:spPr>
          <a:xfrm>
            <a:off x="7086600" y="1828800"/>
            <a:ext cx="1645920" cy="82296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9" name="Text 17"/>
          <p:cNvSpPr/>
          <p:nvPr/>
        </p:nvSpPr>
        <p:spPr>
          <a:xfrm>
            <a:off x="7086600" y="1901952"/>
            <a:ext cx="1645920" cy="457200"/>
          </a:xfrm>
          <a:prstGeom prst="rect">
            <a:avLst/>
          </a:prstGeom>
          <a:noFill/>
          <a:ln/>
        </p:spPr>
        <p:txBody>
          <a:bodyPr wrap="square" rtlCol="0" anchor="ctr"/>
          <a:lstStyle/>
          <a:p>
            <a:pPr marL="0" indent="0" algn="ctr">
              <a:buNone/>
            </a:pPr>
            <a:r>
              <a:rPr lang="en-US" sz="2200" b="1" dirty="0">
                <a:solidFill>
                  <a:srgbClr val="1AC8C8"/>
                </a:solidFill>
                <a:latin typeface="Calibri" pitchFamily="34" charset="0"/>
                <a:ea typeface="Calibri" pitchFamily="34" charset="-122"/>
                <a:cs typeface="Calibri" pitchFamily="34" charset="-120"/>
              </a:rPr>
              <a:t>279.71M HRS</a:t>
            </a:r>
            <a:endParaRPr lang="en-US" sz="2200" dirty="0"/>
          </a:p>
        </p:txBody>
      </p:sp>
      <p:sp>
        <p:nvSpPr>
          <p:cNvPr id="20" name="Text 18"/>
          <p:cNvSpPr/>
          <p:nvPr/>
        </p:nvSpPr>
        <p:spPr>
          <a:xfrm>
            <a:off x="7086600" y="2331720"/>
            <a:ext cx="1645920" cy="274320"/>
          </a:xfrm>
          <a:prstGeom prst="rect">
            <a:avLst/>
          </a:prstGeom>
          <a:noFill/>
          <a:ln/>
        </p:spPr>
        <p:txBody>
          <a:bodyPr wrap="square" rtlCol="0" anchor="ctr"/>
          <a:lstStyle/>
          <a:p>
            <a:pPr marL="0" indent="0" algn="ctr">
              <a:buNone/>
            </a:pPr>
            <a:r>
              <a:rPr lang="en-US" sz="1100" dirty="0">
                <a:solidFill>
                  <a:srgbClr val="AADCDC"/>
                </a:solidFill>
                <a:latin typeface="Calibri" pitchFamily="34" charset="0"/>
                <a:ea typeface="Calibri" pitchFamily="34" charset="-122"/>
                <a:cs typeface="Calibri" pitchFamily="34" charset="-120"/>
              </a:rPr>
              <a:t>Total Airtime</a:t>
            </a:r>
            <a:endParaRPr lang="en-US" sz="1100" dirty="0"/>
          </a:p>
        </p:txBody>
      </p:sp>
      <p:sp>
        <p:nvSpPr>
          <p:cNvPr id="21" name="Text 19"/>
          <p:cNvSpPr/>
          <p:nvPr/>
        </p:nvSpPr>
        <p:spPr>
          <a:xfrm>
            <a:off x="457200" y="2880360"/>
            <a:ext cx="8229600" cy="365760"/>
          </a:xfrm>
          <a:prstGeom prst="rect">
            <a:avLst/>
          </a:prstGeom>
          <a:noFill/>
          <a:ln/>
        </p:spPr>
        <p:txBody>
          <a:bodyPr wrap="square" rtlCol="0" anchor="ctr"/>
          <a:lstStyle/>
          <a:p>
            <a:pPr marL="0" indent="0">
              <a:buNone/>
            </a:pPr>
            <a:r>
              <a:rPr lang="en-US" sz="2000" b="1" dirty="0">
                <a:solidFill>
                  <a:srgbClr val="1AC8C8"/>
                </a:solidFill>
                <a:latin typeface="Calibri" pitchFamily="34" charset="0"/>
                <a:ea typeface="Calibri" pitchFamily="34" charset="-122"/>
                <a:cs typeface="Calibri" pitchFamily="34" charset="-120"/>
              </a:rPr>
              <a:t>Objectives</a:t>
            </a:r>
            <a:endParaRPr lang="en-US" sz="2000" dirty="0"/>
          </a:p>
        </p:txBody>
      </p:sp>
      <p:sp>
        <p:nvSpPr>
          <p:cNvPr id="22" name="Text 20"/>
          <p:cNvSpPr/>
          <p:nvPr/>
        </p:nvSpPr>
        <p:spPr>
          <a:xfrm>
            <a:off x="457200" y="3291840"/>
            <a:ext cx="8229600" cy="320040"/>
          </a:xfrm>
          <a:prstGeom prst="rect">
            <a:avLst/>
          </a:prstGeom>
          <a:noFill/>
          <a:ln/>
        </p:spPr>
        <p:txBody>
          <a:bodyPr wrap="square" rtlCol="0" anchor="ctr"/>
          <a:lstStyle/>
          <a:p>
            <a:pPr marL="342900" indent="-342900">
              <a:buSzPct val="100000"/>
              <a:buChar char="•"/>
            </a:pPr>
            <a:r>
              <a:rPr lang="en-US" sz="1300" dirty="0">
                <a:solidFill>
                  <a:srgbClr val="D0EFEF"/>
                </a:solidFill>
                <a:latin typeface="Calibri" pitchFamily="34" charset="0"/>
                <a:ea typeface="Calibri" pitchFamily="34" charset="-122"/>
                <a:cs typeface="Calibri" pitchFamily="34" charset="-120"/>
              </a:rPr>
              <a:t>Analyze flight, seat, and passenger data across airlines, routes, and time periods</a:t>
            </a:r>
            <a:endParaRPr lang="en-US" sz="1300" dirty="0"/>
          </a:p>
        </p:txBody>
      </p:sp>
      <p:sp>
        <p:nvSpPr>
          <p:cNvPr id="23" name="Text 21"/>
          <p:cNvSpPr/>
          <p:nvPr/>
        </p:nvSpPr>
        <p:spPr>
          <a:xfrm>
            <a:off x="457200" y="3639312"/>
            <a:ext cx="8229600" cy="320040"/>
          </a:xfrm>
          <a:prstGeom prst="rect">
            <a:avLst/>
          </a:prstGeom>
          <a:noFill/>
          <a:ln/>
        </p:spPr>
        <p:txBody>
          <a:bodyPr wrap="square" rtlCol="0" anchor="ctr"/>
          <a:lstStyle/>
          <a:p>
            <a:pPr marL="342900" indent="-342900">
              <a:buSzPct val="100000"/>
              <a:buChar char="•"/>
            </a:pPr>
            <a:r>
              <a:rPr lang="en-US" sz="1300" dirty="0">
                <a:solidFill>
                  <a:srgbClr val="D0EFEF"/>
                </a:solidFill>
                <a:latin typeface="Calibri" pitchFamily="34" charset="0"/>
                <a:ea typeface="Calibri" pitchFamily="34" charset="-122"/>
                <a:cs typeface="Calibri" pitchFamily="34" charset="-120"/>
              </a:rPr>
              <a:t>Calculate and compare Load Factor (efficiency of seat utilization) by carrier, route, and day type</a:t>
            </a:r>
            <a:endParaRPr lang="en-US" sz="1300" dirty="0"/>
          </a:p>
        </p:txBody>
      </p:sp>
      <p:sp>
        <p:nvSpPr>
          <p:cNvPr id="24" name="Text 22"/>
          <p:cNvSpPr/>
          <p:nvPr/>
        </p:nvSpPr>
        <p:spPr>
          <a:xfrm>
            <a:off x="457200" y="3986784"/>
            <a:ext cx="8229600" cy="320040"/>
          </a:xfrm>
          <a:prstGeom prst="rect">
            <a:avLst/>
          </a:prstGeom>
          <a:noFill/>
          <a:ln/>
        </p:spPr>
        <p:txBody>
          <a:bodyPr wrap="square" rtlCol="0" anchor="ctr"/>
          <a:lstStyle/>
          <a:p>
            <a:pPr marL="342900" indent="-342900">
              <a:buSzPct val="100000"/>
              <a:buChar char="•"/>
            </a:pPr>
            <a:r>
              <a:rPr lang="en-US" sz="1300" dirty="0">
                <a:solidFill>
                  <a:srgbClr val="D0EFEF"/>
                </a:solidFill>
                <a:latin typeface="Calibri" pitchFamily="34" charset="0"/>
                <a:ea typeface="Calibri" pitchFamily="34" charset="-122"/>
                <a:cs typeface="Calibri" pitchFamily="34" charset="-120"/>
              </a:rPr>
              <a:t>Identify top-performing carriers, busiest routes, and seasonal demand patterns</a:t>
            </a:r>
            <a:endParaRPr lang="en-US" sz="1300" dirty="0"/>
          </a:p>
        </p:txBody>
      </p:sp>
      <p:sp>
        <p:nvSpPr>
          <p:cNvPr id="25" name="Text 23"/>
          <p:cNvSpPr/>
          <p:nvPr/>
        </p:nvSpPr>
        <p:spPr>
          <a:xfrm>
            <a:off x="457200" y="4334256"/>
            <a:ext cx="8229600" cy="320040"/>
          </a:xfrm>
          <a:prstGeom prst="rect">
            <a:avLst/>
          </a:prstGeom>
          <a:noFill/>
          <a:ln/>
        </p:spPr>
        <p:txBody>
          <a:bodyPr wrap="square" rtlCol="0" anchor="ctr"/>
          <a:lstStyle/>
          <a:p>
            <a:pPr marL="342900" indent="-342900">
              <a:buSzPct val="100000"/>
              <a:buChar char="•"/>
            </a:pPr>
            <a:r>
              <a:rPr lang="en-US" sz="1300" dirty="0">
                <a:solidFill>
                  <a:srgbClr val="D0EFEF"/>
                </a:solidFill>
                <a:latin typeface="Calibri" pitchFamily="34" charset="0"/>
                <a:ea typeface="Calibri" pitchFamily="34" charset="-122"/>
                <a:cs typeface="Calibri" pitchFamily="34" charset="-120"/>
              </a:rPr>
              <a:t>Build interactive dashboards in Excel, Power BI, and Tableau for actionable insights</a:t>
            </a:r>
            <a:endParaRPr lang="en-US" sz="1300" dirty="0"/>
          </a:p>
        </p:txBody>
      </p:sp>
      <p:sp>
        <p:nvSpPr>
          <p:cNvPr id="26" name="Shape 24"/>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Excel Dashboard</a:t>
            </a:r>
            <a:endParaRPr lang="en-US" sz="3400" dirty="0"/>
          </a:p>
        </p:txBody>
      </p:sp>
      <p:pic>
        <p:nvPicPr>
          <p:cNvPr id="5" name="Image 0" descr="preencoded.png"/>
          <p:cNvPicPr>
            <a:picLocks noChangeAspect="1"/>
          </p:cNvPicPr>
          <p:nvPr/>
        </p:nvPicPr>
        <p:blipFill>
          <a:blip r:embed="rId3"/>
          <a:stretch>
            <a:fillRect/>
          </a:stretch>
        </p:blipFill>
        <p:spPr>
          <a:xfrm>
            <a:off x="274320" y="822960"/>
            <a:ext cx="5486400" cy="3108960"/>
          </a:xfrm>
          <a:prstGeom prst="rect">
            <a:avLst/>
          </a:prstGeom>
        </p:spPr>
      </p:pic>
      <p:sp>
        <p:nvSpPr>
          <p:cNvPr id="6" name="Shape 3"/>
          <p:cNvSpPr/>
          <p:nvPr/>
        </p:nvSpPr>
        <p:spPr>
          <a:xfrm>
            <a:off x="5989320" y="822960"/>
            <a:ext cx="2926080" cy="2011680"/>
          </a:xfrm>
          <a:prstGeom prst="rect">
            <a:avLst/>
          </a:prstGeom>
          <a:solidFill>
            <a:srgbClr val="0F4F6B"/>
          </a:solidFill>
          <a:ln w="19050">
            <a:solidFill>
              <a:srgbClr val="1AC8C8"/>
            </a:solidFill>
            <a:prstDash val="solid"/>
          </a:ln>
        </p:spPr>
      </p:sp>
      <p:sp>
        <p:nvSpPr>
          <p:cNvPr id="7" name="Text 4"/>
          <p:cNvSpPr/>
          <p:nvPr/>
        </p:nvSpPr>
        <p:spPr>
          <a:xfrm>
            <a:off x="5989320" y="868680"/>
            <a:ext cx="2926080" cy="365760"/>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6035040" y="129844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Monthly load factor peaks at 81.5% (July)</a:t>
            </a:r>
            <a:endParaRPr lang="en-US" sz="1100" dirty="0"/>
          </a:p>
        </p:txBody>
      </p:sp>
      <p:sp>
        <p:nvSpPr>
          <p:cNvPr id="9" name="Text 6"/>
          <p:cNvSpPr/>
          <p:nvPr/>
        </p:nvSpPr>
        <p:spPr>
          <a:xfrm>
            <a:off x="6035040" y="161848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Year/Quarter wise trend shows steady growth 2008–2013</a:t>
            </a:r>
            <a:endParaRPr lang="en-US" sz="1100" dirty="0"/>
          </a:p>
        </p:txBody>
      </p:sp>
      <p:sp>
        <p:nvSpPr>
          <p:cNvPr id="10" name="Text 7"/>
          <p:cNvSpPr/>
          <p:nvPr/>
        </p:nvSpPr>
        <p:spPr>
          <a:xfrm>
            <a:off x="6035040" y="193852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Top 10 carriers: Southwest leads with 34.1M passengers</a:t>
            </a:r>
            <a:endParaRPr lang="en-US" sz="1100" dirty="0"/>
          </a:p>
        </p:txBody>
      </p:sp>
      <p:sp>
        <p:nvSpPr>
          <p:cNvPr id="11" name="Text 8"/>
          <p:cNvSpPr/>
          <p:nvPr/>
        </p:nvSpPr>
        <p:spPr>
          <a:xfrm>
            <a:off x="6035040" y="225856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WDC–NYC &amp; LA–NYC are busiest routes (200+ flights)</a:t>
            </a:r>
            <a:endParaRPr lang="en-US" sz="1100" dirty="0"/>
          </a:p>
        </p:txBody>
      </p:sp>
      <p:sp>
        <p:nvSpPr>
          <p:cNvPr id="12" name="Shape 9"/>
          <p:cNvSpPr/>
          <p:nvPr/>
        </p:nvSpPr>
        <p:spPr>
          <a:xfrm>
            <a:off x="5989320" y="2926080"/>
            <a:ext cx="2926080" cy="1005840"/>
          </a:xfrm>
          <a:prstGeom prst="rect">
            <a:avLst/>
          </a:prstGeom>
          <a:solidFill>
            <a:srgbClr val="0F4F6B"/>
          </a:solidFill>
          <a:ln w="19050">
            <a:solidFill>
              <a:srgbClr val="1AC8C8"/>
            </a:solidFill>
            <a:prstDash val="solid"/>
          </a:ln>
        </p:spPr>
      </p:sp>
      <p:sp>
        <p:nvSpPr>
          <p:cNvPr id="13" name="Text 10"/>
          <p:cNvSpPr/>
          <p:nvPr/>
        </p:nvSpPr>
        <p:spPr>
          <a:xfrm>
            <a:off x="5989320" y="2971800"/>
            <a:ext cx="2926080" cy="320040"/>
          </a:xfrm>
          <a:prstGeom prst="rect">
            <a:avLst/>
          </a:prstGeom>
          <a:noFill/>
          <a:ln/>
        </p:spPr>
        <p:txBody>
          <a:bodyPr wrap="square" rtlCol="0" anchor="ctr"/>
          <a:lstStyle/>
          <a:p>
            <a:pPr marL="0" indent="0" algn="ctr">
              <a:buNone/>
            </a:pPr>
            <a:r>
              <a:rPr lang="en-US" sz="1300" b="1" dirty="0">
                <a:solidFill>
                  <a:srgbClr val="1AC8C8"/>
                </a:solidFill>
                <a:latin typeface="Calibri" pitchFamily="34" charset="0"/>
                <a:ea typeface="Calibri" pitchFamily="34" charset="-122"/>
                <a:cs typeface="Calibri" pitchFamily="34" charset="-120"/>
              </a:rPr>
              <a:t>Business Interpretation</a:t>
            </a:r>
            <a:endParaRPr lang="en-US" sz="1300" dirty="0"/>
          </a:p>
        </p:txBody>
      </p:sp>
      <p:sp>
        <p:nvSpPr>
          <p:cNvPr id="14" name="Text 11"/>
          <p:cNvSpPr/>
          <p:nvPr/>
        </p:nvSpPr>
        <p:spPr>
          <a:xfrm>
            <a:off x="6035040" y="3310128"/>
            <a:ext cx="2834640" cy="548640"/>
          </a:xfrm>
          <a:prstGeom prst="rect">
            <a:avLst/>
          </a:prstGeom>
          <a:noFill/>
          <a:ln/>
        </p:spPr>
        <p:txBody>
          <a:bodyPr wrap="square" rtlCol="0" anchor="ctr"/>
          <a:lstStyle/>
          <a:p>
            <a:pPr marL="0" indent="0">
              <a:buNone/>
            </a:pPr>
            <a:r>
              <a:rPr lang="en-US" sz="1000" dirty="0">
                <a:solidFill>
                  <a:srgbClr val="D0EFEF"/>
                </a:solidFill>
                <a:latin typeface="Calibri" pitchFamily="34" charset="0"/>
                <a:ea typeface="Calibri" pitchFamily="34" charset="-122"/>
                <a:cs typeface="Calibri" pitchFamily="34" charset="-120"/>
              </a:rPr>
              <a:t>Excel dashboard provides quick KPI monitoring with slicers for origin state and financial class filters enabling dynamic analysis.</a:t>
            </a:r>
            <a:endParaRPr lang="en-US" sz="1000" dirty="0"/>
          </a:p>
        </p:txBody>
      </p:sp>
      <p:sp>
        <p:nvSpPr>
          <p:cNvPr id="15" name="Text 12"/>
          <p:cNvSpPr/>
          <p:nvPr/>
        </p:nvSpPr>
        <p:spPr>
          <a:xfrm>
            <a:off x="274320" y="4069080"/>
            <a:ext cx="5486400" cy="320040"/>
          </a:xfrm>
          <a:prstGeom prst="rect">
            <a:avLst/>
          </a:prstGeom>
          <a:noFill/>
          <a:ln/>
        </p:spPr>
        <p:txBody>
          <a:bodyPr wrap="square" rtlCol="0" anchor="ctr"/>
          <a:lstStyle/>
          <a:p>
            <a:pPr marL="0" indent="0" algn="ctr">
              <a:buNone/>
            </a:pPr>
            <a:r>
              <a:rPr lang="en-US" sz="1100" i="1" dirty="0">
                <a:solidFill>
                  <a:srgbClr val="7ECFCF"/>
                </a:solidFill>
                <a:latin typeface="Calibri" pitchFamily="34" charset="0"/>
                <a:ea typeface="Calibri" pitchFamily="34" charset="-122"/>
                <a:cs typeface="Calibri" pitchFamily="34" charset="-120"/>
              </a:rPr>
              <a:t>Tool: Microsoft Excel  |  Charts: Bar, Line, Pie, Donut</a:t>
            </a:r>
            <a:endParaRPr lang="en-US" sz="1100" dirty="0"/>
          </a:p>
        </p:txBody>
      </p:sp>
      <p:sp>
        <p:nvSpPr>
          <p:cNvPr id="16" name="Shape 13"/>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Tableau — Operational Performance Dashboard</a:t>
            </a:r>
            <a:endParaRPr lang="en-US" sz="2800" dirty="0"/>
          </a:p>
        </p:txBody>
      </p:sp>
      <p:pic>
        <p:nvPicPr>
          <p:cNvPr id="5" name="Image 0" descr="preencoded.png"/>
          <p:cNvPicPr>
            <a:picLocks noChangeAspect="1"/>
          </p:cNvPicPr>
          <p:nvPr/>
        </p:nvPicPr>
        <p:blipFill>
          <a:blip r:embed="rId3"/>
          <a:stretch>
            <a:fillRect/>
          </a:stretch>
        </p:blipFill>
        <p:spPr>
          <a:xfrm>
            <a:off x="274320" y="822960"/>
            <a:ext cx="5486400" cy="3108960"/>
          </a:xfrm>
          <a:prstGeom prst="rect">
            <a:avLst/>
          </a:prstGeom>
        </p:spPr>
      </p:pic>
      <p:sp>
        <p:nvSpPr>
          <p:cNvPr id="6" name="Shape 3"/>
          <p:cNvSpPr/>
          <p:nvPr/>
        </p:nvSpPr>
        <p:spPr>
          <a:xfrm>
            <a:off x="5989320" y="822960"/>
            <a:ext cx="2926080" cy="2011680"/>
          </a:xfrm>
          <a:prstGeom prst="rect">
            <a:avLst/>
          </a:prstGeom>
          <a:solidFill>
            <a:srgbClr val="0F4F6B"/>
          </a:solidFill>
          <a:ln w="19050">
            <a:solidFill>
              <a:srgbClr val="1AC8C8"/>
            </a:solidFill>
            <a:prstDash val="solid"/>
          </a:ln>
        </p:spPr>
      </p:sp>
      <p:sp>
        <p:nvSpPr>
          <p:cNvPr id="7" name="Text 4"/>
          <p:cNvSpPr/>
          <p:nvPr/>
        </p:nvSpPr>
        <p:spPr>
          <a:xfrm>
            <a:off x="5989320" y="868680"/>
            <a:ext cx="2926080" cy="365760"/>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6035040" y="129844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Overall Load Factor: 76.80%</a:t>
            </a:r>
            <a:endParaRPr lang="en-US" sz="1100" dirty="0"/>
          </a:p>
        </p:txBody>
      </p:sp>
      <p:sp>
        <p:nvSpPr>
          <p:cNvPr id="9" name="Text 6"/>
          <p:cNvSpPr/>
          <p:nvPr/>
        </p:nvSpPr>
        <p:spPr>
          <a:xfrm>
            <a:off x="6035040" y="161848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Q3 highest load factor at 79.09%</a:t>
            </a:r>
            <a:endParaRPr lang="en-US" sz="1100" dirty="0"/>
          </a:p>
        </p:txBody>
      </p:sp>
      <p:sp>
        <p:nvSpPr>
          <p:cNvPr id="10" name="Text 7"/>
          <p:cNvSpPr/>
          <p:nvPr/>
        </p:nvSpPr>
        <p:spPr>
          <a:xfrm>
            <a:off x="6035040" y="193852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Yearly trend grows from 75.30% (2007) to 78.12% (2014)</a:t>
            </a:r>
            <a:endParaRPr lang="en-US" sz="1100" dirty="0"/>
          </a:p>
        </p:txBody>
      </p:sp>
      <p:sp>
        <p:nvSpPr>
          <p:cNvPr id="11" name="Text 8"/>
          <p:cNvSpPr/>
          <p:nvPr/>
        </p:nvSpPr>
        <p:spPr>
          <a:xfrm>
            <a:off x="6035040" y="225856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Atlanta–New York top route with 6.82M passengers</a:t>
            </a:r>
            <a:endParaRPr lang="en-US" sz="1100" dirty="0"/>
          </a:p>
        </p:txBody>
      </p:sp>
      <p:sp>
        <p:nvSpPr>
          <p:cNvPr id="12" name="Shape 9"/>
          <p:cNvSpPr/>
          <p:nvPr/>
        </p:nvSpPr>
        <p:spPr>
          <a:xfrm>
            <a:off x="5989320" y="2926080"/>
            <a:ext cx="2926080" cy="1005840"/>
          </a:xfrm>
          <a:prstGeom prst="rect">
            <a:avLst/>
          </a:prstGeom>
          <a:solidFill>
            <a:srgbClr val="0F4F6B"/>
          </a:solidFill>
          <a:ln w="19050">
            <a:solidFill>
              <a:srgbClr val="1AC8C8"/>
            </a:solidFill>
            <a:prstDash val="solid"/>
          </a:ln>
        </p:spPr>
      </p:sp>
      <p:sp>
        <p:nvSpPr>
          <p:cNvPr id="13" name="Text 10"/>
          <p:cNvSpPr/>
          <p:nvPr/>
        </p:nvSpPr>
        <p:spPr>
          <a:xfrm>
            <a:off x="5989320" y="2971800"/>
            <a:ext cx="2926080" cy="320040"/>
          </a:xfrm>
          <a:prstGeom prst="rect">
            <a:avLst/>
          </a:prstGeom>
          <a:noFill/>
          <a:ln/>
        </p:spPr>
        <p:txBody>
          <a:bodyPr wrap="square" rtlCol="0" anchor="ctr"/>
          <a:lstStyle/>
          <a:p>
            <a:pPr marL="0" indent="0" algn="ctr">
              <a:buNone/>
            </a:pPr>
            <a:r>
              <a:rPr lang="en-US" sz="1300" b="1" dirty="0">
                <a:solidFill>
                  <a:srgbClr val="1AC8C8"/>
                </a:solidFill>
                <a:latin typeface="Calibri" pitchFamily="34" charset="0"/>
                <a:ea typeface="Calibri" pitchFamily="34" charset="-122"/>
                <a:cs typeface="Calibri" pitchFamily="34" charset="-120"/>
              </a:rPr>
              <a:t>Business Interpretation</a:t>
            </a:r>
            <a:endParaRPr lang="en-US" sz="1300" dirty="0"/>
          </a:p>
        </p:txBody>
      </p:sp>
      <p:sp>
        <p:nvSpPr>
          <p:cNvPr id="14" name="Text 11"/>
          <p:cNvSpPr/>
          <p:nvPr/>
        </p:nvSpPr>
        <p:spPr>
          <a:xfrm>
            <a:off x="6035040" y="3310128"/>
            <a:ext cx="2834640" cy="548640"/>
          </a:xfrm>
          <a:prstGeom prst="rect">
            <a:avLst/>
          </a:prstGeom>
          <a:noFill/>
          <a:ln/>
        </p:spPr>
        <p:txBody>
          <a:bodyPr wrap="square" rtlCol="0" anchor="ctr"/>
          <a:lstStyle/>
          <a:p>
            <a:pPr marL="0" indent="0">
              <a:buNone/>
            </a:pPr>
            <a:r>
              <a:rPr lang="en-US" sz="1000" dirty="0">
                <a:solidFill>
                  <a:srgbClr val="D0EFEF"/>
                </a:solidFill>
                <a:latin typeface="Calibri" pitchFamily="34" charset="0"/>
                <a:ea typeface="Calibri" pitchFamily="34" charset="-122"/>
                <a:cs typeface="Calibri" pitchFamily="34" charset="-120"/>
              </a:rPr>
              <a:t>Power BI enables deep-drill analysis with multi-level filters across destination country, origin state and city for granular performance tracking.</a:t>
            </a:r>
            <a:endParaRPr lang="en-US" sz="1000" dirty="0"/>
          </a:p>
        </p:txBody>
      </p:sp>
      <p:sp>
        <p:nvSpPr>
          <p:cNvPr id="15" name="Text 12"/>
          <p:cNvSpPr/>
          <p:nvPr/>
        </p:nvSpPr>
        <p:spPr>
          <a:xfrm>
            <a:off x="274320" y="4069080"/>
            <a:ext cx="5486400" cy="320040"/>
          </a:xfrm>
          <a:prstGeom prst="rect">
            <a:avLst/>
          </a:prstGeom>
          <a:noFill/>
          <a:ln/>
        </p:spPr>
        <p:txBody>
          <a:bodyPr wrap="square" rtlCol="0" anchor="ctr"/>
          <a:lstStyle/>
          <a:p>
            <a:pPr marL="0" indent="0" algn="ctr">
              <a:buNone/>
            </a:pPr>
            <a:r>
              <a:rPr lang="en-US" sz="1100" i="1" dirty="0">
                <a:solidFill>
                  <a:srgbClr val="7ECFCF"/>
                </a:solidFill>
                <a:latin typeface="Calibri" pitchFamily="34" charset="0"/>
                <a:ea typeface="Calibri" pitchFamily="34" charset="-122"/>
                <a:cs typeface="Calibri" pitchFamily="34" charset="-120"/>
              </a:rPr>
              <a:t>Tool: Microsoft Power BI  |  Filters: Country, State, City</a:t>
            </a:r>
            <a:endParaRPr lang="en-US" sz="1100" dirty="0"/>
          </a:p>
        </p:txBody>
      </p:sp>
      <p:sp>
        <p:nvSpPr>
          <p:cNvPr id="16" name="Shape 13"/>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Power Bi — High Cloud Airlines Dashboard</a:t>
            </a:r>
            <a:endParaRPr lang="en-US" sz="3000" dirty="0"/>
          </a:p>
        </p:txBody>
      </p:sp>
      <p:pic>
        <p:nvPicPr>
          <p:cNvPr id="5" name="Image 0" descr="preencoded.png"/>
          <p:cNvPicPr>
            <a:picLocks noChangeAspect="1"/>
          </p:cNvPicPr>
          <p:nvPr/>
        </p:nvPicPr>
        <p:blipFill>
          <a:blip r:embed="rId3"/>
          <a:stretch>
            <a:fillRect/>
          </a:stretch>
        </p:blipFill>
        <p:spPr>
          <a:xfrm>
            <a:off x="274320" y="822960"/>
            <a:ext cx="5486400" cy="3108960"/>
          </a:xfrm>
          <a:prstGeom prst="rect">
            <a:avLst/>
          </a:prstGeom>
        </p:spPr>
      </p:pic>
      <p:sp>
        <p:nvSpPr>
          <p:cNvPr id="6" name="Shape 3"/>
          <p:cNvSpPr/>
          <p:nvPr/>
        </p:nvSpPr>
        <p:spPr>
          <a:xfrm>
            <a:off x="5989320" y="822960"/>
            <a:ext cx="2926080" cy="2011680"/>
          </a:xfrm>
          <a:prstGeom prst="rect">
            <a:avLst/>
          </a:prstGeom>
          <a:solidFill>
            <a:srgbClr val="0F4F6B"/>
          </a:solidFill>
          <a:ln w="19050">
            <a:solidFill>
              <a:srgbClr val="1AC8C8"/>
            </a:solidFill>
            <a:prstDash val="solid"/>
          </a:ln>
        </p:spPr>
      </p:sp>
      <p:sp>
        <p:nvSpPr>
          <p:cNvPr id="7" name="Text 4"/>
          <p:cNvSpPr/>
          <p:nvPr/>
        </p:nvSpPr>
        <p:spPr>
          <a:xfrm>
            <a:off x="5989320" y="868680"/>
            <a:ext cx="2926080" cy="365760"/>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6035040" y="129844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Globespan Airways tops load factor at 94.76%</a:t>
            </a:r>
            <a:endParaRPr lang="en-US" sz="1100" dirty="0"/>
          </a:p>
        </p:txBody>
      </p:sp>
      <p:sp>
        <p:nvSpPr>
          <p:cNvPr id="9" name="Text 6"/>
          <p:cNvSpPr/>
          <p:nvPr/>
        </p:nvSpPr>
        <p:spPr>
          <a:xfrm>
            <a:off x="6035040" y="161848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Load factor by year shows consistent growth trend</a:t>
            </a:r>
            <a:endParaRPr lang="en-US" sz="1100" dirty="0"/>
          </a:p>
        </p:txBody>
      </p:sp>
      <p:sp>
        <p:nvSpPr>
          <p:cNvPr id="10" name="Text 7"/>
          <p:cNvSpPr/>
          <p:nvPr/>
        </p:nvSpPr>
        <p:spPr>
          <a:xfrm>
            <a:off x="6035040" y="193852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Weekend (76.73%) vs Weekday (76.96%) nearly equal</a:t>
            </a:r>
            <a:endParaRPr lang="en-US" sz="1100" dirty="0"/>
          </a:p>
        </p:txBody>
      </p:sp>
      <p:sp>
        <p:nvSpPr>
          <p:cNvPr id="11" name="Text 8"/>
          <p:cNvSpPr/>
          <p:nvPr/>
        </p:nvSpPr>
        <p:spPr>
          <a:xfrm>
            <a:off x="6035040" y="2258568"/>
            <a:ext cx="2834640" cy="301752"/>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Atlanta GA is top destination city with 12.3M passengers</a:t>
            </a:r>
            <a:endParaRPr lang="en-US" sz="1100" dirty="0"/>
          </a:p>
        </p:txBody>
      </p:sp>
      <p:sp>
        <p:nvSpPr>
          <p:cNvPr id="12" name="Shape 9"/>
          <p:cNvSpPr/>
          <p:nvPr/>
        </p:nvSpPr>
        <p:spPr>
          <a:xfrm>
            <a:off x="5989320" y="2926080"/>
            <a:ext cx="2926080" cy="1005840"/>
          </a:xfrm>
          <a:prstGeom prst="rect">
            <a:avLst/>
          </a:prstGeom>
          <a:solidFill>
            <a:srgbClr val="0F4F6B"/>
          </a:solidFill>
          <a:ln w="19050">
            <a:solidFill>
              <a:srgbClr val="1AC8C8"/>
            </a:solidFill>
            <a:prstDash val="solid"/>
          </a:ln>
        </p:spPr>
      </p:sp>
      <p:sp>
        <p:nvSpPr>
          <p:cNvPr id="13" name="Text 10"/>
          <p:cNvSpPr/>
          <p:nvPr/>
        </p:nvSpPr>
        <p:spPr>
          <a:xfrm>
            <a:off x="5989320" y="2971800"/>
            <a:ext cx="2926080" cy="320040"/>
          </a:xfrm>
          <a:prstGeom prst="rect">
            <a:avLst/>
          </a:prstGeom>
          <a:noFill/>
          <a:ln/>
        </p:spPr>
        <p:txBody>
          <a:bodyPr wrap="square" rtlCol="0" anchor="ctr"/>
          <a:lstStyle/>
          <a:p>
            <a:pPr marL="0" indent="0" algn="ctr">
              <a:buNone/>
            </a:pPr>
            <a:r>
              <a:rPr lang="en-US" sz="1300" b="1" dirty="0">
                <a:solidFill>
                  <a:srgbClr val="1AC8C8"/>
                </a:solidFill>
                <a:latin typeface="Calibri" pitchFamily="34" charset="0"/>
                <a:ea typeface="Calibri" pitchFamily="34" charset="-122"/>
                <a:cs typeface="Calibri" pitchFamily="34" charset="-120"/>
              </a:rPr>
              <a:t>Business Interpretation</a:t>
            </a:r>
            <a:endParaRPr lang="en-US" sz="1300" dirty="0"/>
          </a:p>
        </p:txBody>
      </p:sp>
      <p:sp>
        <p:nvSpPr>
          <p:cNvPr id="14" name="Text 11"/>
          <p:cNvSpPr/>
          <p:nvPr/>
        </p:nvSpPr>
        <p:spPr>
          <a:xfrm>
            <a:off x="6035040" y="3310128"/>
            <a:ext cx="2834640" cy="548640"/>
          </a:xfrm>
          <a:prstGeom prst="rect">
            <a:avLst/>
          </a:prstGeom>
          <a:noFill/>
          <a:ln/>
        </p:spPr>
        <p:txBody>
          <a:bodyPr wrap="square" rtlCol="0" anchor="ctr"/>
          <a:lstStyle/>
          <a:p>
            <a:pPr marL="0" indent="0">
              <a:buNone/>
            </a:pPr>
            <a:r>
              <a:rPr lang="en-US" sz="1000" dirty="0">
                <a:solidFill>
                  <a:srgbClr val="D0EFEF"/>
                </a:solidFill>
                <a:latin typeface="Calibri" pitchFamily="34" charset="0"/>
                <a:ea typeface="Calibri" pitchFamily="34" charset="-122"/>
                <a:cs typeface="Calibri" pitchFamily="34" charset="-120"/>
              </a:rPr>
              <a:t>Tableau's interactive filters for Quarter and Destination City enable flexible drill-downs into route-level and carrier-level performance.</a:t>
            </a:r>
            <a:endParaRPr lang="en-US" sz="1000" dirty="0"/>
          </a:p>
        </p:txBody>
      </p:sp>
      <p:sp>
        <p:nvSpPr>
          <p:cNvPr id="15" name="Text 12"/>
          <p:cNvSpPr/>
          <p:nvPr/>
        </p:nvSpPr>
        <p:spPr>
          <a:xfrm>
            <a:off x="274320" y="4069080"/>
            <a:ext cx="5486400" cy="320040"/>
          </a:xfrm>
          <a:prstGeom prst="rect">
            <a:avLst/>
          </a:prstGeom>
          <a:noFill/>
          <a:ln/>
        </p:spPr>
        <p:txBody>
          <a:bodyPr wrap="square" rtlCol="0" anchor="ctr"/>
          <a:lstStyle/>
          <a:p>
            <a:pPr marL="0" indent="0" algn="ctr">
              <a:buNone/>
            </a:pPr>
            <a:r>
              <a:rPr lang="en-US" sz="1100" i="1" dirty="0">
                <a:solidFill>
                  <a:srgbClr val="7ECFCF"/>
                </a:solidFill>
                <a:latin typeface="Calibri" pitchFamily="34" charset="0"/>
                <a:ea typeface="Calibri" pitchFamily="34" charset="-122"/>
                <a:cs typeface="Calibri" pitchFamily="34" charset="-120"/>
              </a:rPr>
              <a:t>Tool: Tableau Desktop  |  Filters: Quarter, Destination Country &amp; City</a:t>
            </a:r>
            <a:endParaRPr lang="en-US" sz="1100" dirty="0"/>
          </a:p>
        </p:txBody>
      </p:sp>
      <p:sp>
        <p:nvSpPr>
          <p:cNvPr id="16" name="Shape 13"/>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Load Factor by Year</a:t>
            </a:r>
            <a:endParaRPr lang="en-US" sz="3400" dirty="0"/>
          </a:p>
        </p:txBody>
      </p:sp>
      <p:pic>
        <p:nvPicPr>
          <p:cNvPr id="5" name="Image 0" descr="preencoded.png"/>
          <p:cNvPicPr>
            <a:picLocks noChangeAspect="1"/>
          </p:cNvPicPr>
          <p:nvPr/>
        </p:nvPicPr>
        <p:blipFill>
          <a:blip r:embed="rId3"/>
          <a:stretch>
            <a:fillRect/>
          </a:stretch>
        </p:blipFill>
        <p:spPr>
          <a:xfrm>
            <a:off x="457200" y="868680"/>
            <a:ext cx="5029200" cy="2560320"/>
          </a:xfrm>
          <a:prstGeom prst="rect">
            <a:avLst/>
          </a:prstGeom>
        </p:spPr>
      </p:pic>
      <p:sp>
        <p:nvSpPr>
          <p:cNvPr id="6" name="Shape 3"/>
          <p:cNvSpPr/>
          <p:nvPr/>
        </p:nvSpPr>
        <p:spPr>
          <a:xfrm>
            <a:off x="5760720" y="822960"/>
            <a:ext cx="3108960" cy="1645920"/>
          </a:xfrm>
          <a:prstGeom prst="rect">
            <a:avLst/>
          </a:prstGeom>
          <a:solidFill>
            <a:srgbClr val="0F4F6B"/>
          </a:solidFill>
          <a:ln w="19050">
            <a:solidFill>
              <a:srgbClr val="1AC8C8"/>
            </a:solidFill>
            <a:prstDash val="solid"/>
          </a:ln>
        </p:spPr>
      </p:sp>
      <p:sp>
        <p:nvSpPr>
          <p:cNvPr id="7" name="Text 4"/>
          <p:cNvSpPr/>
          <p:nvPr/>
        </p:nvSpPr>
        <p:spPr>
          <a:xfrm>
            <a:off x="5760720" y="868680"/>
            <a:ext cx="3108960" cy="347472"/>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5806440" y="1280160"/>
            <a:ext cx="3017520" cy="274320"/>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Lowest: 75.30% in 2008</a:t>
            </a:r>
            <a:endParaRPr lang="en-US" sz="1200" dirty="0"/>
          </a:p>
        </p:txBody>
      </p:sp>
      <p:sp>
        <p:nvSpPr>
          <p:cNvPr id="9" name="Text 6"/>
          <p:cNvSpPr/>
          <p:nvPr/>
        </p:nvSpPr>
        <p:spPr>
          <a:xfrm>
            <a:off x="5806440" y="1572768"/>
            <a:ext cx="3017520" cy="274320"/>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Dip in 2012 to 77.19%, then strong recovery</a:t>
            </a:r>
            <a:endParaRPr lang="en-US" sz="1200" dirty="0"/>
          </a:p>
        </p:txBody>
      </p:sp>
      <p:sp>
        <p:nvSpPr>
          <p:cNvPr id="10" name="Text 7"/>
          <p:cNvSpPr/>
          <p:nvPr/>
        </p:nvSpPr>
        <p:spPr>
          <a:xfrm>
            <a:off x="5806440" y="1865376"/>
            <a:ext cx="3017520" cy="274320"/>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Highest: 78.12% in 2013</a:t>
            </a:r>
            <a:endParaRPr lang="en-US" sz="1200" dirty="0"/>
          </a:p>
        </p:txBody>
      </p:sp>
      <p:sp>
        <p:nvSpPr>
          <p:cNvPr id="11" name="Text 8"/>
          <p:cNvSpPr/>
          <p:nvPr/>
        </p:nvSpPr>
        <p:spPr>
          <a:xfrm>
            <a:off x="5806440" y="2157984"/>
            <a:ext cx="3017520" cy="274320"/>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Overall upward trend over 6 years</a:t>
            </a:r>
            <a:endParaRPr lang="en-US" sz="1200" dirty="0"/>
          </a:p>
        </p:txBody>
      </p:sp>
      <p:sp>
        <p:nvSpPr>
          <p:cNvPr id="12" name="Text 9"/>
          <p:cNvSpPr/>
          <p:nvPr/>
        </p:nvSpPr>
        <p:spPr>
          <a:xfrm>
            <a:off x="457200" y="3566160"/>
            <a:ext cx="8229600" cy="347472"/>
          </a:xfrm>
          <a:prstGeom prst="rect">
            <a:avLst/>
          </a:prstGeom>
          <a:noFill/>
          <a:ln/>
        </p:spPr>
        <p:txBody>
          <a:bodyPr wrap="square" rtlCol="0" anchor="ctr"/>
          <a:lstStyle/>
          <a:p>
            <a:pPr marL="0" indent="0" algn="ctr">
              <a:buNone/>
            </a:pPr>
            <a:r>
              <a:rPr lang="en-US" sz="1800" b="1" dirty="0">
                <a:solidFill>
                  <a:srgbClr val="1AC8C8"/>
                </a:solidFill>
                <a:latin typeface="Calibri" pitchFamily="34" charset="0"/>
                <a:ea typeface="Calibri" pitchFamily="34" charset="-122"/>
                <a:cs typeface="Calibri" pitchFamily="34" charset="-120"/>
              </a:rPr>
              <a:t>Business Interpretation</a:t>
            </a:r>
            <a:endParaRPr lang="en-US" sz="1800" dirty="0"/>
          </a:p>
        </p:txBody>
      </p:sp>
      <p:sp>
        <p:nvSpPr>
          <p:cNvPr id="13" name="Text 10"/>
          <p:cNvSpPr/>
          <p:nvPr/>
        </p:nvSpPr>
        <p:spPr>
          <a:xfrm>
            <a:off x="457200" y="3931920"/>
            <a:ext cx="8229600" cy="640080"/>
          </a:xfrm>
          <a:prstGeom prst="rect">
            <a:avLst/>
          </a:prstGeom>
          <a:noFill/>
          <a:ln/>
        </p:spPr>
        <p:txBody>
          <a:bodyPr wrap="square" rtlCol="0" anchor="ctr"/>
          <a:lstStyle/>
          <a:p>
            <a:pPr marL="0" indent="0" algn="ctr">
              <a:buNone/>
            </a:pPr>
            <a:r>
              <a:rPr lang="en-US" sz="1300" dirty="0">
                <a:solidFill>
                  <a:srgbClr val="D0EFEF"/>
                </a:solidFill>
                <a:latin typeface="Calibri" pitchFamily="34" charset="0"/>
                <a:ea typeface="Calibri" pitchFamily="34" charset="-122"/>
                <a:cs typeface="Calibri" pitchFamily="34" charset="-120"/>
              </a:rPr>
              <a:t>Consistent growth in load factor from 2008–2013 indicates improving airline efficiency and rising demand. The 2012 dip may reflect economic conditions or increased capacity additions. The strong 2012–2013 recovery signals healthy passenger demand.</a:t>
            </a:r>
            <a:endParaRPr lang="en-US" sz="1300" dirty="0"/>
          </a:p>
        </p:txBody>
      </p:sp>
      <p:sp>
        <p:nvSpPr>
          <p:cNvPr id="14" name="Shape 11"/>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Load Factor by Day Type</a:t>
            </a:r>
            <a:endParaRPr lang="en-US" sz="3400" dirty="0"/>
          </a:p>
        </p:txBody>
      </p:sp>
      <p:pic>
        <p:nvPicPr>
          <p:cNvPr id="5" name="Image 0" descr="preencoded.png"/>
          <p:cNvPicPr>
            <a:picLocks noChangeAspect="1"/>
          </p:cNvPicPr>
          <p:nvPr/>
        </p:nvPicPr>
        <p:blipFill>
          <a:blip r:embed="rId3"/>
          <a:stretch>
            <a:fillRect/>
          </a:stretch>
        </p:blipFill>
        <p:spPr>
          <a:xfrm>
            <a:off x="457200" y="822960"/>
            <a:ext cx="4572000" cy="2651760"/>
          </a:xfrm>
          <a:prstGeom prst="rect">
            <a:avLst/>
          </a:prstGeom>
        </p:spPr>
      </p:pic>
      <p:sp>
        <p:nvSpPr>
          <p:cNvPr id="6" name="Shape 3"/>
          <p:cNvSpPr/>
          <p:nvPr/>
        </p:nvSpPr>
        <p:spPr>
          <a:xfrm>
            <a:off x="5303520" y="822960"/>
            <a:ext cx="3566160" cy="1828800"/>
          </a:xfrm>
          <a:prstGeom prst="rect">
            <a:avLst/>
          </a:prstGeom>
          <a:solidFill>
            <a:srgbClr val="0F4F6B"/>
          </a:solidFill>
          <a:ln w="19050">
            <a:solidFill>
              <a:srgbClr val="1AC8C8"/>
            </a:solidFill>
            <a:prstDash val="solid"/>
          </a:ln>
        </p:spPr>
      </p:sp>
      <p:sp>
        <p:nvSpPr>
          <p:cNvPr id="7" name="Text 4"/>
          <p:cNvSpPr/>
          <p:nvPr/>
        </p:nvSpPr>
        <p:spPr>
          <a:xfrm>
            <a:off x="5303520" y="868680"/>
            <a:ext cx="3566160" cy="347472"/>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5349240" y="1298448"/>
            <a:ext cx="3474720" cy="301752"/>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Weekday load factor: 76.96% (50.07% of flights)</a:t>
            </a:r>
            <a:endParaRPr lang="en-US" sz="1200" dirty="0"/>
          </a:p>
        </p:txBody>
      </p:sp>
      <p:sp>
        <p:nvSpPr>
          <p:cNvPr id="9" name="Text 6"/>
          <p:cNvSpPr/>
          <p:nvPr/>
        </p:nvSpPr>
        <p:spPr>
          <a:xfrm>
            <a:off x="5349240" y="1618488"/>
            <a:ext cx="3474720" cy="301752"/>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Weekend load factor: 76.73% (49.93% of flights)</a:t>
            </a:r>
            <a:endParaRPr lang="en-US" sz="1200" dirty="0"/>
          </a:p>
        </p:txBody>
      </p:sp>
      <p:sp>
        <p:nvSpPr>
          <p:cNvPr id="10" name="Text 7"/>
          <p:cNvSpPr/>
          <p:nvPr/>
        </p:nvSpPr>
        <p:spPr>
          <a:xfrm>
            <a:off x="5349240" y="1938528"/>
            <a:ext cx="3474720" cy="301752"/>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Near-equal split between weekday and weekend</a:t>
            </a:r>
            <a:endParaRPr lang="en-US" sz="1200" dirty="0"/>
          </a:p>
        </p:txBody>
      </p:sp>
      <p:sp>
        <p:nvSpPr>
          <p:cNvPr id="11" name="Text 8"/>
          <p:cNvSpPr/>
          <p:nvPr/>
        </p:nvSpPr>
        <p:spPr>
          <a:xfrm>
            <a:off x="5349240" y="2258568"/>
            <a:ext cx="3474720" cy="301752"/>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Weekdays marginally outperform weekends</a:t>
            </a:r>
            <a:endParaRPr lang="en-US" sz="1200" dirty="0"/>
          </a:p>
        </p:txBody>
      </p:sp>
      <p:sp>
        <p:nvSpPr>
          <p:cNvPr id="12" name="Text 9"/>
          <p:cNvSpPr/>
          <p:nvPr/>
        </p:nvSpPr>
        <p:spPr>
          <a:xfrm>
            <a:off x="457200" y="3611880"/>
            <a:ext cx="8229600" cy="347472"/>
          </a:xfrm>
          <a:prstGeom prst="rect">
            <a:avLst/>
          </a:prstGeom>
          <a:noFill/>
          <a:ln/>
        </p:spPr>
        <p:txBody>
          <a:bodyPr wrap="square" rtlCol="0" anchor="ctr"/>
          <a:lstStyle/>
          <a:p>
            <a:pPr marL="0" indent="0" algn="ctr">
              <a:buNone/>
            </a:pPr>
            <a:r>
              <a:rPr lang="en-US" sz="1800" b="1" dirty="0">
                <a:solidFill>
                  <a:srgbClr val="1AC8C8"/>
                </a:solidFill>
                <a:latin typeface="Calibri" pitchFamily="34" charset="0"/>
                <a:ea typeface="Calibri" pitchFamily="34" charset="-122"/>
                <a:cs typeface="Calibri" pitchFamily="34" charset="-120"/>
              </a:rPr>
              <a:t>Business Interpretation</a:t>
            </a:r>
            <a:endParaRPr lang="en-US" sz="1800" dirty="0"/>
          </a:p>
        </p:txBody>
      </p:sp>
      <p:sp>
        <p:nvSpPr>
          <p:cNvPr id="13" name="Text 10"/>
          <p:cNvSpPr/>
          <p:nvPr/>
        </p:nvSpPr>
        <p:spPr>
          <a:xfrm>
            <a:off x="457200" y="3977640"/>
            <a:ext cx="8229600" cy="640080"/>
          </a:xfrm>
          <a:prstGeom prst="rect">
            <a:avLst/>
          </a:prstGeom>
          <a:noFill/>
          <a:ln/>
        </p:spPr>
        <p:txBody>
          <a:bodyPr wrap="square" rtlCol="0" anchor="ctr"/>
          <a:lstStyle/>
          <a:p>
            <a:pPr marL="0" indent="0" algn="ctr">
              <a:buNone/>
            </a:pPr>
            <a:r>
              <a:rPr lang="en-US" sz="1200" dirty="0">
                <a:solidFill>
                  <a:srgbClr val="D0EFEF"/>
                </a:solidFill>
                <a:latin typeface="Calibri" pitchFamily="34" charset="0"/>
                <a:ea typeface="Calibri" pitchFamily="34" charset="-122"/>
                <a:cs typeface="Calibri" pitchFamily="34" charset="-120"/>
              </a:rPr>
              <a:t>The minimal difference between weekday (76.96%) and weekend (76.73%) load factors suggests consistent demand across the week. Airlines can leverage this stability for uniform pricing while introducing weekend leisure promotions to push utilization above 77%.</a:t>
            </a:r>
            <a:endParaRPr lang="en-US" sz="1200" dirty="0"/>
          </a:p>
        </p:txBody>
      </p:sp>
      <p:sp>
        <p:nvSpPr>
          <p:cNvPr id="14" name="Shape 11"/>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Top 5 Destination Cities by Passengers</a:t>
            </a:r>
            <a:endParaRPr lang="en-US" sz="3200" dirty="0"/>
          </a:p>
        </p:txBody>
      </p:sp>
      <p:sp>
        <p:nvSpPr>
          <p:cNvPr id="6" name="Shape 3"/>
          <p:cNvSpPr/>
          <p:nvPr/>
        </p:nvSpPr>
        <p:spPr>
          <a:xfrm>
            <a:off x="5760720" y="822960"/>
            <a:ext cx="3108960" cy="2011680"/>
          </a:xfrm>
          <a:prstGeom prst="rect">
            <a:avLst/>
          </a:prstGeom>
          <a:solidFill>
            <a:srgbClr val="0F4F6B"/>
          </a:solidFill>
          <a:ln w="19050">
            <a:solidFill>
              <a:srgbClr val="1AC8C8"/>
            </a:solidFill>
            <a:prstDash val="solid"/>
          </a:ln>
        </p:spPr>
      </p:sp>
      <p:sp>
        <p:nvSpPr>
          <p:cNvPr id="7" name="Text 4"/>
          <p:cNvSpPr/>
          <p:nvPr/>
        </p:nvSpPr>
        <p:spPr>
          <a:xfrm>
            <a:off x="5760720" y="868680"/>
            <a:ext cx="3108960" cy="347472"/>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5806440" y="1280160"/>
            <a:ext cx="3017520" cy="283464"/>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Atlanta, GA leads with 12.3M passengers</a:t>
            </a:r>
            <a:endParaRPr lang="en-US" sz="1100" dirty="0"/>
          </a:p>
        </p:txBody>
      </p:sp>
      <p:sp>
        <p:nvSpPr>
          <p:cNvPr id="9" name="Text 6"/>
          <p:cNvSpPr/>
          <p:nvPr/>
        </p:nvSpPr>
        <p:spPr>
          <a:xfrm>
            <a:off x="5806440" y="1581912"/>
            <a:ext cx="3017520" cy="283464"/>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New York, NY second at 7.7M</a:t>
            </a:r>
            <a:endParaRPr lang="en-US" sz="1100" dirty="0"/>
          </a:p>
        </p:txBody>
      </p:sp>
      <p:sp>
        <p:nvSpPr>
          <p:cNvPr id="10" name="Text 7"/>
          <p:cNvSpPr/>
          <p:nvPr/>
        </p:nvSpPr>
        <p:spPr>
          <a:xfrm>
            <a:off x="5806440" y="1883664"/>
            <a:ext cx="3017520" cy="283464"/>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Chicago, IL third at 7.3M (tooltip: 7,299,206)</a:t>
            </a:r>
            <a:endParaRPr lang="en-US" sz="1100" dirty="0"/>
          </a:p>
        </p:txBody>
      </p:sp>
      <p:sp>
        <p:nvSpPr>
          <p:cNvPr id="11" name="Text 8"/>
          <p:cNvSpPr/>
          <p:nvPr/>
        </p:nvSpPr>
        <p:spPr>
          <a:xfrm>
            <a:off x="5806440" y="2185416"/>
            <a:ext cx="3017520" cy="283464"/>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Houston, TX and Phoenix, AZ at 6.8M &amp; 5.9M</a:t>
            </a:r>
            <a:endParaRPr lang="en-US" sz="1100" dirty="0"/>
          </a:p>
        </p:txBody>
      </p:sp>
      <p:sp>
        <p:nvSpPr>
          <p:cNvPr id="12" name="Text 9"/>
          <p:cNvSpPr/>
          <p:nvPr/>
        </p:nvSpPr>
        <p:spPr>
          <a:xfrm>
            <a:off x="5806440" y="2487168"/>
            <a:ext cx="3017520" cy="283464"/>
          </a:xfrm>
          <a:prstGeom prst="rect">
            <a:avLst/>
          </a:prstGeom>
          <a:noFill/>
          <a:ln/>
        </p:spPr>
        <p:txBody>
          <a:bodyPr wrap="square" rtlCol="0" anchor="ctr"/>
          <a:lstStyle/>
          <a:p>
            <a:pPr marL="342900" indent="-342900">
              <a:buSzPct val="100000"/>
              <a:buChar char="•"/>
            </a:pPr>
            <a:r>
              <a:rPr lang="en-US" sz="1100" dirty="0">
                <a:solidFill>
                  <a:srgbClr val="D0EFEF"/>
                </a:solidFill>
                <a:latin typeface="Calibri" pitchFamily="34" charset="0"/>
                <a:ea typeface="Calibri" pitchFamily="34" charset="-122"/>
                <a:cs typeface="Calibri" pitchFamily="34" charset="-120"/>
              </a:rPr>
              <a:t>Atlanta handles ~2x more passengers than #2</a:t>
            </a:r>
            <a:endParaRPr lang="en-US" sz="1100" dirty="0"/>
          </a:p>
        </p:txBody>
      </p:sp>
      <p:sp>
        <p:nvSpPr>
          <p:cNvPr id="13" name="Text 10"/>
          <p:cNvSpPr/>
          <p:nvPr/>
        </p:nvSpPr>
        <p:spPr>
          <a:xfrm>
            <a:off x="457200" y="3611880"/>
            <a:ext cx="8229600" cy="347472"/>
          </a:xfrm>
          <a:prstGeom prst="rect">
            <a:avLst/>
          </a:prstGeom>
          <a:noFill/>
          <a:ln/>
        </p:spPr>
        <p:txBody>
          <a:bodyPr wrap="square" rtlCol="0" anchor="ctr"/>
          <a:lstStyle/>
          <a:p>
            <a:pPr marL="0" indent="0" algn="ctr">
              <a:buNone/>
            </a:pPr>
            <a:r>
              <a:rPr lang="en-US" sz="1800" b="1" dirty="0">
                <a:solidFill>
                  <a:srgbClr val="1AC8C8"/>
                </a:solidFill>
                <a:latin typeface="Calibri" pitchFamily="34" charset="0"/>
                <a:ea typeface="Calibri" pitchFamily="34" charset="-122"/>
                <a:cs typeface="Calibri" pitchFamily="34" charset="-120"/>
              </a:rPr>
              <a:t>Business Interpretation</a:t>
            </a:r>
            <a:endParaRPr lang="en-US" sz="1800" dirty="0"/>
          </a:p>
        </p:txBody>
      </p:sp>
      <p:sp>
        <p:nvSpPr>
          <p:cNvPr id="14" name="Text 11"/>
          <p:cNvSpPr/>
          <p:nvPr/>
        </p:nvSpPr>
        <p:spPr>
          <a:xfrm>
            <a:off x="457200" y="3977640"/>
            <a:ext cx="8229600" cy="640080"/>
          </a:xfrm>
          <a:prstGeom prst="rect">
            <a:avLst/>
          </a:prstGeom>
          <a:noFill/>
          <a:ln/>
        </p:spPr>
        <p:txBody>
          <a:bodyPr wrap="square" rtlCol="0" anchor="ctr"/>
          <a:lstStyle/>
          <a:p>
            <a:pPr marL="0" indent="0" algn="ctr">
              <a:buNone/>
            </a:pPr>
            <a:r>
              <a:rPr lang="en-US" sz="1200" dirty="0">
                <a:solidFill>
                  <a:srgbClr val="D0EFEF"/>
                </a:solidFill>
                <a:latin typeface="Calibri" pitchFamily="34" charset="0"/>
                <a:ea typeface="Calibri" pitchFamily="34" charset="-122"/>
                <a:cs typeface="Calibri" pitchFamily="34" charset="-120"/>
              </a:rPr>
              <a:t>Atlanta's dominance as a hub reflects its role as a major airline connection point. New York and Chicago as major business/leisure hubs confirm high traffic. Targeted capacity investment in these cities could yield significant revenue returns.</a:t>
            </a:r>
            <a:endParaRPr lang="en-US" sz="1200" dirty="0"/>
          </a:p>
        </p:txBody>
      </p:sp>
      <p:sp>
        <p:nvSpPr>
          <p:cNvPr id="15" name="Shape 12"/>
          <p:cNvSpPr/>
          <p:nvPr/>
        </p:nvSpPr>
        <p:spPr>
          <a:xfrm>
            <a:off x="0" y="5070348"/>
            <a:ext cx="9144000" cy="73152"/>
          </a:xfrm>
          <a:prstGeom prst="rect">
            <a:avLst/>
          </a:prstGeom>
          <a:solidFill>
            <a:srgbClr val="1AC8C8"/>
          </a:solidFill>
          <a:ln w="12700">
            <a:solidFill>
              <a:srgbClr val="1AC8C8"/>
            </a:solidFill>
            <a:prstDash val="solid"/>
          </a:ln>
        </p:spPr>
      </p:sp>
      <p:pic>
        <p:nvPicPr>
          <p:cNvPr id="17" name="Picture 16">
            <a:extLst>
              <a:ext uri="{FF2B5EF4-FFF2-40B4-BE49-F238E27FC236}">
                <a16:creationId xmlns:a16="http://schemas.microsoft.com/office/drawing/2014/main" id="{284FDB4C-8104-14F1-A3F4-3A4B3BDB9E9C}"/>
              </a:ext>
            </a:extLst>
          </p:cNvPr>
          <p:cNvPicPr>
            <a:picLocks noChangeAspect="1"/>
          </p:cNvPicPr>
          <p:nvPr/>
        </p:nvPicPr>
        <p:blipFill>
          <a:blip r:embed="rId3"/>
          <a:srcRect t="2593" b="1666"/>
          <a:stretch>
            <a:fillRect/>
          </a:stretch>
        </p:blipFill>
        <p:spPr>
          <a:xfrm>
            <a:off x="386062" y="795527"/>
            <a:ext cx="4790476" cy="2363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37160"/>
            <a:ext cx="8595360" cy="5943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Top 10 Routes by Flights</a:t>
            </a:r>
            <a:endParaRPr lang="en-US" sz="3400" dirty="0"/>
          </a:p>
        </p:txBody>
      </p:sp>
      <p:pic>
        <p:nvPicPr>
          <p:cNvPr id="5" name="Image 0" descr="preencoded.png"/>
          <p:cNvPicPr>
            <a:picLocks noChangeAspect="1"/>
          </p:cNvPicPr>
          <p:nvPr/>
        </p:nvPicPr>
        <p:blipFill>
          <a:blip r:embed="rId3"/>
          <a:stretch>
            <a:fillRect/>
          </a:stretch>
        </p:blipFill>
        <p:spPr>
          <a:xfrm>
            <a:off x="365760" y="868680"/>
            <a:ext cx="5029200" cy="2560320"/>
          </a:xfrm>
          <a:prstGeom prst="rect">
            <a:avLst/>
          </a:prstGeom>
        </p:spPr>
      </p:pic>
      <p:sp>
        <p:nvSpPr>
          <p:cNvPr id="6" name="Shape 3"/>
          <p:cNvSpPr/>
          <p:nvPr/>
        </p:nvSpPr>
        <p:spPr>
          <a:xfrm>
            <a:off x="5669280" y="822960"/>
            <a:ext cx="3200400" cy="1737360"/>
          </a:xfrm>
          <a:prstGeom prst="rect">
            <a:avLst/>
          </a:prstGeom>
          <a:solidFill>
            <a:srgbClr val="0F4F6B"/>
          </a:solidFill>
          <a:ln w="19050">
            <a:solidFill>
              <a:srgbClr val="1AC8C8"/>
            </a:solidFill>
            <a:prstDash val="solid"/>
          </a:ln>
        </p:spPr>
      </p:sp>
      <p:sp>
        <p:nvSpPr>
          <p:cNvPr id="7" name="Text 4"/>
          <p:cNvSpPr/>
          <p:nvPr/>
        </p:nvSpPr>
        <p:spPr>
          <a:xfrm>
            <a:off x="5669280" y="868680"/>
            <a:ext cx="3200400" cy="347472"/>
          </a:xfrm>
          <a:prstGeom prst="rect">
            <a:avLst/>
          </a:prstGeom>
          <a:noFill/>
          <a:ln/>
        </p:spPr>
        <p:txBody>
          <a:bodyPr wrap="square" rtlCol="0" anchor="ctr"/>
          <a:lstStyle/>
          <a:p>
            <a:pPr marL="0" indent="0" algn="ctr">
              <a:buNone/>
            </a:pPr>
            <a:r>
              <a:rPr lang="en-US" sz="1600" b="1" dirty="0">
                <a:solidFill>
                  <a:srgbClr val="1AC8C8"/>
                </a:solidFill>
                <a:latin typeface="Calibri" pitchFamily="34" charset="0"/>
                <a:ea typeface="Calibri" pitchFamily="34" charset="-122"/>
                <a:cs typeface="Calibri" pitchFamily="34" charset="-120"/>
              </a:rPr>
              <a:t>Key Insights</a:t>
            </a:r>
            <a:endParaRPr lang="en-US" sz="1600" dirty="0"/>
          </a:p>
        </p:txBody>
      </p:sp>
      <p:sp>
        <p:nvSpPr>
          <p:cNvPr id="8" name="Text 5"/>
          <p:cNvSpPr/>
          <p:nvPr/>
        </p:nvSpPr>
        <p:spPr>
          <a:xfrm>
            <a:off x="5715000" y="1298448"/>
            <a:ext cx="3108960" cy="292608"/>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Illinois–M route leads with 95 flights</a:t>
            </a:r>
            <a:endParaRPr lang="en-US" sz="1200" dirty="0"/>
          </a:p>
        </p:txBody>
      </p:sp>
      <p:sp>
        <p:nvSpPr>
          <p:cNvPr id="9" name="Text 6"/>
          <p:cNvSpPr/>
          <p:nvPr/>
        </p:nvSpPr>
        <p:spPr>
          <a:xfrm>
            <a:off x="5715000" y="1609344"/>
            <a:ext cx="3108960" cy="292608"/>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Virginia routes rank #2 (88) and #3 (86)</a:t>
            </a:r>
            <a:endParaRPr lang="en-US" sz="1200" dirty="0"/>
          </a:p>
        </p:txBody>
      </p:sp>
      <p:sp>
        <p:nvSpPr>
          <p:cNvPr id="10" name="Text 7"/>
          <p:cNvSpPr/>
          <p:nvPr/>
        </p:nvSpPr>
        <p:spPr>
          <a:xfrm>
            <a:off x="5715000" y="1920240"/>
            <a:ext cx="3108960" cy="292608"/>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Georgia appears 3 times in top 10</a:t>
            </a:r>
            <a:endParaRPr lang="en-US" sz="1200" dirty="0"/>
          </a:p>
        </p:txBody>
      </p:sp>
      <p:sp>
        <p:nvSpPr>
          <p:cNvPr id="11" name="Text 8"/>
          <p:cNvSpPr/>
          <p:nvPr/>
        </p:nvSpPr>
        <p:spPr>
          <a:xfrm>
            <a:off x="5715000" y="2231136"/>
            <a:ext cx="3108960" cy="292608"/>
          </a:xfrm>
          <a:prstGeom prst="rect">
            <a:avLst/>
          </a:prstGeom>
          <a:noFill/>
          <a:ln/>
        </p:spPr>
        <p:txBody>
          <a:bodyPr wrap="square" rtlCol="0" anchor="ctr"/>
          <a:lstStyle/>
          <a:p>
            <a:pPr marL="342900" indent="-342900">
              <a:buSzPct val="100000"/>
              <a:buChar char="•"/>
            </a:pPr>
            <a:r>
              <a:rPr lang="en-US" sz="1200" dirty="0">
                <a:solidFill>
                  <a:srgbClr val="D0EFEF"/>
                </a:solidFill>
                <a:latin typeface="Calibri" pitchFamily="34" charset="0"/>
                <a:ea typeface="Calibri" pitchFamily="34" charset="-122"/>
                <a:cs typeface="Calibri" pitchFamily="34" charset="-120"/>
              </a:rPr>
              <a:t>Midwest &amp; East dominate high-frequency routes</a:t>
            </a:r>
            <a:endParaRPr lang="en-US" sz="1200" dirty="0"/>
          </a:p>
        </p:txBody>
      </p:sp>
      <p:sp>
        <p:nvSpPr>
          <p:cNvPr id="12" name="Text 9"/>
          <p:cNvSpPr/>
          <p:nvPr/>
        </p:nvSpPr>
        <p:spPr>
          <a:xfrm>
            <a:off x="457200" y="3566160"/>
            <a:ext cx="8229600" cy="347472"/>
          </a:xfrm>
          <a:prstGeom prst="rect">
            <a:avLst/>
          </a:prstGeom>
          <a:noFill/>
          <a:ln/>
        </p:spPr>
        <p:txBody>
          <a:bodyPr wrap="square" rtlCol="0" anchor="ctr"/>
          <a:lstStyle/>
          <a:p>
            <a:pPr marL="0" indent="0" algn="ctr">
              <a:buNone/>
            </a:pPr>
            <a:r>
              <a:rPr lang="en-US" sz="1800" b="1" dirty="0">
                <a:solidFill>
                  <a:srgbClr val="1AC8C8"/>
                </a:solidFill>
                <a:latin typeface="Calibri" pitchFamily="34" charset="0"/>
                <a:ea typeface="Calibri" pitchFamily="34" charset="-122"/>
                <a:cs typeface="Calibri" pitchFamily="34" charset="-120"/>
              </a:rPr>
              <a:t>Business Interpretation</a:t>
            </a:r>
            <a:endParaRPr lang="en-US" sz="1800" dirty="0"/>
          </a:p>
        </p:txBody>
      </p:sp>
      <p:sp>
        <p:nvSpPr>
          <p:cNvPr id="13" name="Text 10"/>
          <p:cNvSpPr/>
          <p:nvPr/>
        </p:nvSpPr>
        <p:spPr>
          <a:xfrm>
            <a:off x="457200" y="3931920"/>
            <a:ext cx="8229600" cy="640080"/>
          </a:xfrm>
          <a:prstGeom prst="rect">
            <a:avLst/>
          </a:prstGeom>
          <a:noFill/>
          <a:ln/>
        </p:spPr>
        <p:txBody>
          <a:bodyPr wrap="square" rtlCol="0" anchor="ctr"/>
          <a:lstStyle/>
          <a:p>
            <a:pPr marL="0" indent="0" algn="ctr">
              <a:buNone/>
            </a:pPr>
            <a:r>
              <a:rPr lang="en-US" sz="1300" dirty="0">
                <a:solidFill>
                  <a:srgbClr val="D0EFEF"/>
                </a:solidFill>
                <a:latin typeface="Calibri" pitchFamily="34" charset="0"/>
                <a:ea typeface="Calibri" pitchFamily="34" charset="-122"/>
                <a:cs typeface="Calibri" pitchFamily="34" charset="-120"/>
              </a:rPr>
              <a:t>High-frequency routes in Illinois, Virginia, and Georgia reflect dense travel corridors driven by business activity and population centers. These routes present opportunities for capacity optimization and targeted pricing strategies.</a:t>
            </a:r>
            <a:endParaRPr lang="en-US" sz="1300" dirty="0"/>
          </a:p>
        </p:txBody>
      </p:sp>
      <p:sp>
        <p:nvSpPr>
          <p:cNvPr id="14" name="Shape 11"/>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3B4F"/>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0A2E40">
              <a:alpha val="80000"/>
            </a:srgbClr>
          </a:solidFill>
          <a:ln w="12700">
            <a:solidFill>
              <a:srgbClr val="0A2E40">
                <a:alpha val="0"/>
              </a:srgbClr>
            </a:solidFill>
            <a:prstDash val="solid"/>
          </a:ln>
        </p:spPr>
      </p:sp>
      <p:sp>
        <p:nvSpPr>
          <p:cNvPr id="3" name="Shape 1"/>
          <p:cNvSpPr/>
          <p:nvPr/>
        </p:nvSpPr>
        <p:spPr>
          <a:xfrm>
            <a:off x="0" y="0"/>
            <a:ext cx="9144000" cy="73152"/>
          </a:xfrm>
          <a:prstGeom prst="rect">
            <a:avLst/>
          </a:prstGeom>
          <a:solidFill>
            <a:srgbClr val="1AC8C8"/>
          </a:solidFill>
          <a:ln w="12700">
            <a:solidFill>
              <a:srgbClr val="1AC8C8"/>
            </a:solidFill>
            <a:prstDash val="solid"/>
          </a:ln>
        </p:spPr>
      </p:sp>
      <p:sp>
        <p:nvSpPr>
          <p:cNvPr id="4" name="Text 2"/>
          <p:cNvSpPr/>
          <p:nvPr/>
        </p:nvSpPr>
        <p:spPr>
          <a:xfrm>
            <a:off x="274320" y="164592"/>
            <a:ext cx="8595360" cy="5943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Key Takeaways &amp; Conclusion</a:t>
            </a:r>
            <a:endParaRPr lang="en-US" sz="3400" dirty="0"/>
          </a:p>
        </p:txBody>
      </p:sp>
      <p:sp>
        <p:nvSpPr>
          <p:cNvPr id="5" name="Shape 3"/>
          <p:cNvSpPr/>
          <p:nvPr/>
        </p:nvSpPr>
        <p:spPr>
          <a:xfrm>
            <a:off x="274320" y="960120"/>
            <a:ext cx="4023360" cy="118872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6" name="Text 4"/>
          <p:cNvSpPr/>
          <p:nvPr/>
        </p:nvSpPr>
        <p:spPr>
          <a:xfrm>
            <a:off x="365760" y="1033272"/>
            <a:ext cx="3840480" cy="320040"/>
          </a:xfrm>
          <a:prstGeom prst="rect">
            <a:avLst/>
          </a:prstGeom>
          <a:noFill/>
          <a:ln/>
        </p:spPr>
        <p:txBody>
          <a:bodyPr wrap="square" rtlCol="0" anchor="ctr"/>
          <a:lstStyle/>
          <a:p>
            <a:pPr marL="0" indent="0">
              <a:buNone/>
            </a:pPr>
            <a:r>
              <a:rPr lang="en-US" sz="1400" b="1" dirty="0">
                <a:solidFill>
                  <a:srgbClr val="1AC8C8"/>
                </a:solidFill>
                <a:latin typeface="Calibri" pitchFamily="34" charset="0"/>
                <a:ea typeface="Calibri" pitchFamily="34" charset="-122"/>
                <a:cs typeface="Calibri" pitchFamily="34" charset="-120"/>
              </a:rPr>
              <a:t>Load Factor Growth</a:t>
            </a:r>
            <a:endParaRPr lang="en-US" sz="1400" dirty="0"/>
          </a:p>
        </p:txBody>
      </p:sp>
      <p:sp>
        <p:nvSpPr>
          <p:cNvPr id="7" name="Text 5"/>
          <p:cNvSpPr/>
          <p:nvPr/>
        </p:nvSpPr>
        <p:spPr>
          <a:xfrm>
            <a:off x="365760" y="1371600"/>
            <a:ext cx="3840480" cy="685800"/>
          </a:xfrm>
          <a:prstGeom prst="rect">
            <a:avLst/>
          </a:prstGeom>
          <a:noFill/>
          <a:ln/>
        </p:spPr>
        <p:txBody>
          <a:bodyPr wrap="square" rtlCol="0" anchor="ctr"/>
          <a:lstStyle/>
          <a:p>
            <a:pPr marL="0" indent="0">
              <a:buNone/>
            </a:pPr>
            <a:r>
              <a:rPr lang="en-US" sz="1150" dirty="0">
                <a:solidFill>
                  <a:srgbClr val="D0EFEF"/>
                </a:solidFill>
                <a:latin typeface="Calibri" pitchFamily="34" charset="0"/>
                <a:ea typeface="Calibri" pitchFamily="34" charset="-122"/>
                <a:cs typeface="Calibri" pitchFamily="34" charset="-120"/>
              </a:rPr>
              <a:t>Load factor improved steadily from 75.30% (2008) to 78.12% (2014), reflecting better capacity utilization and growing demand.</a:t>
            </a:r>
            <a:endParaRPr lang="en-US" sz="1150" dirty="0"/>
          </a:p>
        </p:txBody>
      </p:sp>
      <p:sp>
        <p:nvSpPr>
          <p:cNvPr id="8" name="Shape 6"/>
          <p:cNvSpPr/>
          <p:nvPr/>
        </p:nvSpPr>
        <p:spPr>
          <a:xfrm>
            <a:off x="4846320" y="960120"/>
            <a:ext cx="4023360" cy="118872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9" name="Text 7"/>
          <p:cNvSpPr/>
          <p:nvPr/>
        </p:nvSpPr>
        <p:spPr>
          <a:xfrm>
            <a:off x="4937760" y="1033272"/>
            <a:ext cx="3840480" cy="320040"/>
          </a:xfrm>
          <a:prstGeom prst="rect">
            <a:avLst/>
          </a:prstGeom>
          <a:noFill/>
          <a:ln/>
        </p:spPr>
        <p:txBody>
          <a:bodyPr wrap="square" rtlCol="0" anchor="ctr"/>
          <a:lstStyle/>
          <a:p>
            <a:pPr marL="0" indent="0">
              <a:buNone/>
            </a:pPr>
            <a:r>
              <a:rPr lang="en-US" sz="1400" b="1" dirty="0">
                <a:solidFill>
                  <a:srgbClr val="1AC8C8"/>
                </a:solidFill>
                <a:latin typeface="Calibri" pitchFamily="34" charset="0"/>
                <a:ea typeface="Calibri" pitchFamily="34" charset="-122"/>
                <a:cs typeface="Calibri" pitchFamily="34" charset="-120"/>
              </a:rPr>
              <a:t>Top Carriers</a:t>
            </a:r>
            <a:endParaRPr lang="en-US" sz="1400" dirty="0"/>
          </a:p>
        </p:txBody>
      </p:sp>
      <p:sp>
        <p:nvSpPr>
          <p:cNvPr id="10" name="Text 8"/>
          <p:cNvSpPr/>
          <p:nvPr/>
        </p:nvSpPr>
        <p:spPr>
          <a:xfrm>
            <a:off x="4937760" y="1371600"/>
            <a:ext cx="3840480" cy="685800"/>
          </a:xfrm>
          <a:prstGeom prst="rect">
            <a:avLst/>
          </a:prstGeom>
          <a:noFill/>
          <a:ln/>
        </p:spPr>
        <p:txBody>
          <a:bodyPr wrap="square" rtlCol="0" anchor="ctr"/>
          <a:lstStyle/>
          <a:p>
            <a:pPr marL="0" indent="0">
              <a:buNone/>
            </a:pPr>
            <a:r>
              <a:rPr lang="en-US" sz="1150" dirty="0">
                <a:solidFill>
                  <a:srgbClr val="D0EFEF"/>
                </a:solidFill>
                <a:latin typeface="Calibri" pitchFamily="34" charset="0"/>
                <a:ea typeface="Calibri" pitchFamily="34" charset="-122"/>
                <a:cs typeface="Calibri" pitchFamily="34" charset="-120"/>
              </a:rPr>
              <a:t>Southwest Airlines leads with 34.1M passengers, followed by Delta (28.8M). Globespan Airways tops load factor at 94.76%.</a:t>
            </a:r>
            <a:endParaRPr lang="en-US" sz="1150" dirty="0"/>
          </a:p>
        </p:txBody>
      </p:sp>
      <p:sp>
        <p:nvSpPr>
          <p:cNvPr id="11" name="Shape 9"/>
          <p:cNvSpPr/>
          <p:nvPr/>
        </p:nvSpPr>
        <p:spPr>
          <a:xfrm>
            <a:off x="274320" y="2331720"/>
            <a:ext cx="4023360" cy="118872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2" name="Text 10"/>
          <p:cNvSpPr/>
          <p:nvPr/>
        </p:nvSpPr>
        <p:spPr>
          <a:xfrm>
            <a:off x="365760" y="2404872"/>
            <a:ext cx="3840480" cy="320040"/>
          </a:xfrm>
          <a:prstGeom prst="rect">
            <a:avLst/>
          </a:prstGeom>
          <a:noFill/>
          <a:ln/>
        </p:spPr>
        <p:txBody>
          <a:bodyPr wrap="square" rtlCol="0" anchor="ctr"/>
          <a:lstStyle/>
          <a:p>
            <a:pPr marL="0" indent="0">
              <a:buNone/>
            </a:pPr>
            <a:r>
              <a:rPr lang="en-US" sz="1400" b="1" dirty="0">
                <a:solidFill>
                  <a:srgbClr val="1AC8C8"/>
                </a:solidFill>
                <a:latin typeface="Calibri" pitchFamily="34" charset="0"/>
                <a:ea typeface="Calibri" pitchFamily="34" charset="-122"/>
                <a:cs typeface="Calibri" pitchFamily="34" charset="-120"/>
              </a:rPr>
              <a:t>Key Hub Cities</a:t>
            </a:r>
            <a:endParaRPr lang="en-US" sz="1400" dirty="0"/>
          </a:p>
        </p:txBody>
      </p:sp>
      <p:sp>
        <p:nvSpPr>
          <p:cNvPr id="13" name="Text 11"/>
          <p:cNvSpPr/>
          <p:nvPr/>
        </p:nvSpPr>
        <p:spPr>
          <a:xfrm>
            <a:off x="365760" y="2743200"/>
            <a:ext cx="3840480" cy="685800"/>
          </a:xfrm>
          <a:prstGeom prst="rect">
            <a:avLst/>
          </a:prstGeom>
          <a:noFill/>
          <a:ln/>
        </p:spPr>
        <p:txBody>
          <a:bodyPr wrap="square" rtlCol="0" anchor="ctr"/>
          <a:lstStyle/>
          <a:p>
            <a:pPr marL="0" indent="0">
              <a:buNone/>
            </a:pPr>
            <a:r>
              <a:rPr lang="en-US" sz="1150" dirty="0">
                <a:solidFill>
                  <a:srgbClr val="D0EFEF"/>
                </a:solidFill>
                <a:latin typeface="Calibri" pitchFamily="34" charset="0"/>
                <a:ea typeface="Calibri" pitchFamily="34" charset="-122"/>
                <a:cs typeface="Calibri" pitchFamily="34" charset="-120"/>
              </a:rPr>
              <a:t>Atlanta, New York, and Chicago are the busiest destinations. These hubs represent the highest revenue and passenger opportunity.</a:t>
            </a:r>
            <a:endParaRPr lang="en-US" sz="1150" dirty="0"/>
          </a:p>
        </p:txBody>
      </p:sp>
      <p:sp>
        <p:nvSpPr>
          <p:cNvPr id="14" name="Shape 12"/>
          <p:cNvSpPr/>
          <p:nvPr/>
        </p:nvSpPr>
        <p:spPr>
          <a:xfrm>
            <a:off x="4846320" y="2331720"/>
            <a:ext cx="4023360" cy="1188720"/>
          </a:xfrm>
          <a:prstGeom prst="rect">
            <a:avLst/>
          </a:prstGeom>
          <a:solidFill>
            <a:srgbClr val="0F4F6B"/>
          </a:solidFill>
          <a:ln w="19050">
            <a:solidFill>
              <a:srgbClr val="1AC8C8"/>
            </a:solidFill>
            <a:prstDash val="solid"/>
          </a:ln>
          <a:effectLst>
            <a:outerShdw blurRad="101600" dist="25400" dir="8100000" algn="bl" rotWithShape="0">
              <a:srgbClr val="000000">
                <a:alpha val="30000"/>
              </a:srgbClr>
            </a:outerShdw>
          </a:effectLst>
        </p:spPr>
      </p:sp>
      <p:sp>
        <p:nvSpPr>
          <p:cNvPr id="15" name="Text 13"/>
          <p:cNvSpPr/>
          <p:nvPr/>
        </p:nvSpPr>
        <p:spPr>
          <a:xfrm>
            <a:off x="4937760" y="2404872"/>
            <a:ext cx="3840480" cy="320040"/>
          </a:xfrm>
          <a:prstGeom prst="rect">
            <a:avLst/>
          </a:prstGeom>
          <a:noFill/>
          <a:ln/>
        </p:spPr>
        <p:txBody>
          <a:bodyPr wrap="square" rtlCol="0" anchor="ctr"/>
          <a:lstStyle/>
          <a:p>
            <a:pPr marL="0" indent="0">
              <a:buNone/>
            </a:pPr>
            <a:r>
              <a:rPr lang="en-US" sz="1400" b="1" dirty="0">
                <a:solidFill>
                  <a:srgbClr val="1AC8C8"/>
                </a:solidFill>
                <a:latin typeface="Calibri" pitchFamily="34" charset="0"/>
                <a:ea typeface="Calibri" pitchFamily="34" charset="-122"/>
                <a:cs typeface="Calibri" pitchFamily="34" charset="-120"/>
              </a:rPr>
              <a:t>Consistent Demand</a:t>
            </a:r>
            <a:endParaRPr lang="en-US" sz="1400" dirty="0"/>
          </a:p>
        </p:txBody>
      </p:sp>
      <p:sp>
        <p:nvSpPr>
          <p:cNvPr id="16" name="Text 14"/>
          <p:cNvSpPr/>
          <p:nvPr/>
        </p:nvSpPr>
        <p:spPr>
          <a:xfrm>
            <a:off x="4937760" y="2743200"/>
            <a:ext cx="3840480" cy="685800"/>
          </a:xfrm>
          <a:prstGeom prst="rect">
            <a:avLst/>
          </a:prstGeom>
          <a:noFill/>
          <a:ln/>
        </p:spPr>
        <p:txBody>
          <a:bodyPr wrap="square" rtlCol="0" anchor="ctr"/>
          <a:lstStyle/>
          <a:p>
            <a:pPr marL="0" indent="0">
              <a:buNone/>
            </a:pPr>
            <a:r>
              <a:rPr lang="en-US" sz="1150" dirty="0">
                <a:solidFill>
                  <a:srgbClr val="D0EFEF"/>
                </a:solidFill>
                <a:latin typeface="Calibri" pitchFamily="34" charset="0"/>
                <a:ea typeface="Calibri" pitchFamily="34" charset="-122"/>
                <a:cs typeface="Calibri" pitchFamily="34" charset="-120"/>
              </a:rPr>
              <a:t>Weekday vs. Weekend load factors are nearly identical (76.96% vs 76.73%), indicating steady demand with no major day-type bias.</a:t>
            </a:r>
            <a:endParaRPr lang="en-US" sz="1150" dirty="0"/>
          </a:p>
        </p:txBody>
      </p:sp>
      <p:sp>
        <p:nvSpPr>
          <p:cNvPr id="17" name="Shape 15"/>
          <p:cNvSpPr/>
          <p:nvPr/>
        </p:nvSpPr>
        <p:spPr>
          <a:xfrm>
            <a:off x="274320" y="3703320"/>
            <a:ext cx="8595360" cy="685800"/>
          </a:xfrm>
          <a:prstGeom prst="rect">
            <a:avLst/>
          </a:prstGeom>
          <a:solidFill>
            <a:srgbClr val="0F4F6B"/>
          </a:solidFill>
          <a:ln w="19050">
            <a:solidFill>
              <a:srgbClr val="1AC8C8"/>
            </a:solidFill>
            <a:prstDash val="solid"/>
          </a:ln>
        </p:spPr>
      </p:sp>
      <p:sp>
        <p:nvSpPr>
          <p:cNvPr id="18" name="Text 16"/>
          <p:cNvSpPr/>
          <p:nvPr/>
        </p:nvSpPr>
        <p:spPr>
          <a:xfrm>
            <a:off x="365760" y="3904488"/>
            <a:ext cx="8412480" cy="320040"/>
          </a:xfrm>
          <a:prstGeom prst="rect">
            <a:avLst/>
          </a:prstGeom>
          <a:noFill/>
          <a:ln/>
        </p:spPr>
        <p:txBody>
          <a:bodyPr wrap="square" rtlCol="0" anchor="ctr"/>
          <a:lstStyle/>
          <a:p>
            <a:pPr marL="0" indent="0" algn="ctr">
              <a:buNone/>
            </a:pPr>
            <a:r>
              <a:rPr lang="en-US" sz="1300" i="1" dirty="0">
                <a:solidFill>
                  <a:srgbClr val="7ECFCF"/>
                </a:solidFill>
                <a:latin typeface="Calibri" pitchFamily="34" charset="0"/>
                <a:ea typeface="Calibri" pitchFamily="34" charset="-122"/>
                <a:cs typeface="Calibri" pitchFamily="34" charset="-120"/>
              </a:rPr>
              <a:t>Tools Used: Excel  |  Power BI  |  Tableau    •    Skills Demonstrated: Data Cleaning, Analysis, Visualization, Dashboard Design</a:t>
            </a:r>
            <a:endParaRPr lang="en-US" sz="1300" dirty="0"/>
          </a:p>
        </p:txBody>
      </p:sp>
      <p:sp>
        <p:nvSpPr>
          <p:cNvPr id="19" name="Shape 17"/>
          <p:cNvSpPr/>
          <p:nvPr/>
        </p:nvSpPr>
        <p:spPr>
          <a:xfrm>
            <a:off x="0" y="5070348"/>
            <a:ext cx="9144000" cy="73152"/>
          </a:xfrm>
          <a:prstGeom prst="rect">
            <a:avLst/>
          </a:prstGeom>
          <a:solidFill>
            <a:srgbClr val="1AC8C8"/>
          </a:solidFill>
          <a:ln w="12700">
            <a:solidFill>
              <a:srgbClr val="1AC8C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855</Words>
  <Application>Microsoft Office PowerPoint</Application>
  <PresentationFormat>On-screen Show (16:9)</PresentationFormat>
  <Paragraphs>107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Cloud Airlines Dashboard</dc:title>
  <dc:subject>PptxGenJS Presentation</dc:subject>
  <dc:creator>PptxGenJS</dc:creator>
  <cp:lastModifiedBy>sai kiran avala</cp:lastModifiedBy>
  <cp:revision>5</cp:revision>
  <dcterms:created xsi:type="dcterms:W3CDTF">2026-03-21T06:26:11Z</dcterms:created>
  <dcterms:modified xsi:type="dcterms:W3CDTF">2026-03-22T10:27:45Z</dcterms:modified>
</cp:coreProperties>
</file>